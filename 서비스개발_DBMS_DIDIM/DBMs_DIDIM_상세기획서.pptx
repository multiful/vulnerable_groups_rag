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32" r:id="rId1"/>
    <p:sldMasterId id="2147483834" r:id="rId2"/>
  </p:sldMasterIdLst>
  <p:notesMasterIdLst>
    <p:notesMasterId r:id="rId11"/>
  </p:notesMasterIdLst>
  <p:handoutMasterIdLst>
    <p:handoutMasterId r:id="rId12"/>
  </p:handoutMasterIdLst>
  <p:sldIdLst>
    <p:sldId id="277" r:id="rId3"/>
    <p:sldId id="278" r:id="rId4"/>
    <p:sldId id="279" r:id="rId5"/>
    <p:sldId id="285" r:id="rId6"/>
    <p:sldId id="280" r:id="rId7"/>
    <p:sldId id="281" r:id="rId8"/>
    <p:sldId id="283" r:id="rId9"/>
    <p:sldId id="284" r:id="rId10"/>
  </p:sldIdLst>
  <p:sldSz cx="12192000" cy="6858000"/>
  <p:notesSz cx="6797675" cy="99282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5pPr>
    <a:lvl6pPr marL="22860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6pPr>
    <a:lvl7pPr marL="27432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7pPr>
    <a:lvl8pPr marL="32004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8pPr>
    <a:lvl9pPr marL="36576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6">
          <p15:clr>
            <a:srgbClr val="A4A3A4"/>
          </p15:clr>
        </p15:guide>
        <p15:guide id="3" orient="horz" pos="672">
          <p15:clr>
            <a:srgbClr val="A4A3A4"/>
          </p15:clr>
        </p15:guide>
        <p15:guide id="4" orient="horz" pos="1483">
          <p15:clr>
            <a:srgbClr val="A4A3A4"/>
          </p15:clr>
        </p15:guide>
        <p15:guide id="5" orient="horz" pos="1603">
          <p15:clr>
            <a:srgbClr val="A4A3A4"/>
          </p15:clr>
        </p15:guide>
        <p15:guide id="6" orient="horz" pos="612">
          <p15:clr>
            <a:srgbClr val="A4A3A4"/>
          </p15:clr>
        </p15:guide>
        <p15:guide id="7" orient="horz" pos="3873">
          <p15:clr>
            <a:srgbClr val="A4A3A4"/>
          </p15:clr>
        </p15:guide>
        <p15:guide id="8" orient="horz" pos="369">
          <p15:clr>
            <a:srgbClr val="A4A3A4"/>
          </p15:clr>
        </p15:guide>
        <p15:guide id="9" orient="horz" pos="3893">
          <p15:clr>
            <a:srgbClr val="A4A3A4"/>
          </p15:clr>
        </p15:guide>
        <p15:guide id="10" pos="303">
          <p15:clr>
            <a:srgbClr val="A4A3A4"/>
          </p15:clr>
        </p15:guide>
        <p15:guide id="11" pos="2076">
          <p15:clr>
            <a:srgbClr val="A4A3A4"/>
          </p15:clr>
        </p15:guide>
        <p15:guide id="12" pos="4597">
          <p15:clr>
            <a:srgbClr val="A4A3A4"/>
          </p15:clr>
        </p15:guide>
        <p15:guide id="13" pos="1906">
          <p15:clr>
            <a:srgbClr val="A4A3A4"/>
          </p15:clr>
        </p15:guide>
        <p15:guide id="14" pos="3724">
          <p15:clr>
            <a:srgbClr val="A4A3A4"/>
          </p15:clr>
        </p15:guide>
        <p15:guide id="15" pos="6073">
          <p15:clr>
            <a:srgbClr val="A4A3A4"/>
          </p15:clr>
        </p15:guide>
        <p15:guide id="16" pos="24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none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보통 스타일 2 - 강조 2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69" autoAdjust="0"/>
    <p:restoredTop sz="96074" autoAdjust="0"/>
  </p:normalViewPr>
  <p:slideViewPr>
    <p:cSldViewPr snapToGrid="0" snapToObjects="1">
      <p:cViewPr varScale="1">
        <p:scale>
          <a:sx n="127" d="100"/>
          <a:sy n="127" d="100"/>
        </p:scale>
        <p:origin x="544" y="192"/>
      </p:cViewPr>
      <p:guideLst>
        <p:guide orient="horz" pos="2158"/>
        <p:guide pos="3836"/>
        <p:guide orient="horz" pos="672"/>
        <p:guide orient="horz" pos="1483"/>
        <p:guide orient="horz" pos="1603"/>
        <p:guide orient="horz" pos="612"/>
        <p:guide orient="horz" pos="3873"/>
        <p:guide orient="horz" pos="369"/>
        <p:guide orient="horz" pos="3893"/>
        <p:guide pos="303"/>
        <p:guide pos="2076"/>
        <p:guide pos="4597"/>
        <p:guide pos="1906"/>
        <p:guide pos="3724"/>
        <p:guide pos="6073"/>
        <p:guide pos="24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372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54106551-F65B-E397-7405-24AB65BB053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defTabSz="955273" eaLnBrk="1" latinLnBrk="1" hangingPunct="1">
              <a:spcBef>
                <a:spcPct val="0"/>
              </a:spcBef>
              <a:defRPr kumimoji="1" sz="1300" b="0">
                <a:latin typeface="Times New Roman"/>
                <a:ea typeface="맑은 고딕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8D08480B-0CEE-5B9E-6676-94672D1A48D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algn="r" defTabSz="955273" eaLnBrk="1" latinLnBrk="1" hangingPunct="1">
              <a:spcBef>
                <a:spcPct val="0"/>
              </a:spcBef>
              <a:defRPr kumimoji="1" sz="1300" b="0">
                <a:latin typeface="Times New Roman"/>
                <a:ea typeface="맑은 고딕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C80A109A-0949-7787-9C08-C51F3EF6431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32925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b" anchorCtr="0"/>
          <a:lstStyle>
            <a:lvl1pPr defTabSz="955273" eaLnBrk="1" latinLnBrk="1" hangingPunct="1">
              <a:spcBef>
                <a:spcPct val="0"/>
              </a:spcBef>
              <a:defRPr kumimoji="1" sz="1300" b="0">
                <a:latin typeface="Times New Roman"/>
                <a:ea typeface="맑은 고딕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5" name="Rectangle 5">
            <a:extLst>
              <a:ext uri="{FF2B5EF4-FFF2-40B4-BE49-F238E27FC236}">
                <a16:creationId xmlns:a16="http://schemas.microsoft.com/office/drawing/2014/main" id="{1CDC33F8-6560-F285-A842-745581B2500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>
          <a:xfrm>
            <a:off x="3852863" y="9432925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numCol="1" anchor="b" anchorCtr="0" compatLnSpc="1">
            <a:prstTxWarp prst="textNoShape">
              <a:avLst/>
            </a:prstTxWarp>
          </a:bodyPr>
          <a:lstStyle>
            <a:lvl1pPr algn="r" defTabSz="954088" eaLnBrk="1" latinLnBrk="1" hangingPunct="1">
              <a:defRPr kumimoji="1" sz="1300" b="0">
                <a:latin typeface="Times New Roman" panose="02020603050405020304" pitchFamily="18" charset="0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DA883FD-FBB7-834E-8438-301D5C80D70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594C61B1-3F95-0BA9-D9D8-36651E3B518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defTabSz="955273" eaLnBrk="1" latinLnBrk="1" hangingPunct="1">
              <a:spcBef>
                <a:spcPct val="50000"/>
              </a:spcBef>
              <a:defRPr kumimoji="1" sz="1300" b="0">
                <a:latin typeface="Times New Roman"/>
                <a:ea typeface="맑은 고딕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80BA0BEC-5AF4-061A-6307-9FDF95DCF30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algn="r" defTabSz="955273" eaLnBrk="1" latinLnBrk="1" hangingPunct="1">
              <a:spcBef>
                <a:spcPct val="50000"/>
              </a:spcBef>
              <a:defRPr kumimoji="1" sz="1300" b="0">
                <a:latin typeface="Times New Roman"/>
                <a:ea typeface="맑은 고딕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01D25A63-481E-0DA7-D9F9-DF69A60F3C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2950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7" name="Rectangle 5">
            <a:extLst>
              <a:ext uri="{FF2B5EF4-FFF2-40B4-BE49-F238E27FC236}">
                <a16:creationId xmlns:a16="http://schemas.microsoft.com/office/drawing/2014/main" id="{A61131BF-96DD-745E-90C9-434782BF08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06463" y="4714875"/>
            <a:ext cx="4984750" cy="446881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77158" name="Rectangle 6">
            <a:extLst>
              <a:ext uri="{FF2B5EF4-FFF2-40B4-BE49-F238E27FC236}">
                <a16:creationId xmlns:a16="http://schemas.microsoft.com/office/drawing/2014/main" id="{7EE84B58-622E-9A5B-C5A9-C57738D52B0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32925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b" anchorCtr="0"/>
          <a:lstStyle>
            <a:lvl1pPr defTabSz="955273" eaLnBrk="1" latinLnBrk="1" hangingPunct="1">
              <a:spcBef>
                <a:spcPct val="50000"/>
              </a:spcBef>
              <a:defRPr kumimoji="1" sz="1300" b="0">
                <a:latin typeface="Times New Roman"/>
                <a:ea typeface="맑은 고딕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9" name="Rectangle 7">
            <a:extLst>
              <a:ext uri="{FF2B5EF4-FFF2-40B4-BE49-F238E27FC236}">
                <a16:creationId xmlns:a16="http://schemas.microsoft.com/office/drawing/2014/main" id="{A9DBF11F-490D-A72A-58D2-5761C15433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2863" y="9432925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numCol="1" anchor="b" anchorCtr="0" compatLnSpc="1">
            <a:prstTxWarp prst="textNoShape">
              <a:avLst/>
            </a:prstTxWarp>
          </a:bodyPr>
          <a:lstStyle>
            <a:lvl1pPr algn="r" defTabSz="954088" eaLnBrk="1" latinLnBrk="1" hangingPunct="1">
              <a:spcBef>
                <a:spcPct val="50000"/>
              </a:spcBef>
              <a:defRPr kumimoji="1" sz="1300" b="0">
                <a:latin typeface="Times New Roman" panose="02020603050405020304" pitchFamily="18" charset="0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43846FF8-02D9-A744-895D-725CF0EF42A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/>
        <a:ea typeface="맑은 고딕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/>
        <a:ea typeface="맑은 고딕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/>
        <a:ea typeface="맑은 고딕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/>
        <a:ea typeface="맑은 고딕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/>
        <a:ea typeface="맑은 고딕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70DDAFDA-8DD8-5B88-3A6F-DD2BC34053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D893D9A-4636-3049-BA64-6930B4C5F6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compatLnSpc="1">
            <a:prstTxWarp prst="textNoShape">
              <a:avLst/>
            </a:prstTxWarp>
          </a:bodyPr>
          <a:lstStyle/>
          <a:p>
            <a:endParaRPr lang="ko-KR" altLang="en-US">
              <a:latin typeface="Times New Roman" panose="02020603050405020304" pitchFamily="18" charset="0"/>
              <a:ea typeface="맑은 고딕" panose="020B0503020000020004" pitchFamily="34" charset="-127"/>
            </a:endParaRPr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448D6BA-3A65-1E45-92A6-775CE1DC8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1pPr>
            <a:lvl2pPr marL="742950" indent="-285750" defTabSz="9540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2pPr>
            <a:lvl3pPr marL="1143000" indent="-228600" defTabSz="9540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3pPr>
            <a:lvl4pPr marL="1600200" indent="-228600" defTabSz="9540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4pPr>
            <a:lvl5pPr marL="2057400" indent="-228600" defTabSz="9540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5pPr>
            <a:lvl6pPr marL="25146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6pPr>
            <a:lvl7pPr marL="29718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7pPr>
            <a:lvl8pPr marL="34290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8pPr>
            <a:lvl9pPr marL="38862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9pPr>
          </a:lstStyle>
          <a:p>
            <a:pPr>
              <a:spcBef>
                <a:spcPct val="50000"/>
              </a:spcBef>
            </a:pPr>
            <a:fld id="{6272C043-1023-9F43-B93E-13B217496136}" type="slidenum">
              <a:rPr lang="en-US" altLang="ko-KR" sz="1300" smtClean="0"/>
              <a:pPr>
                <a:spcBef>
                  <a:spcPct val="50000"/>
                </a:spcBef>
              </a:pPr>
              <a:t>1</a:t>
            </a:fld>
            <a:endParaRPr lang="en-US" altLang="ko-KR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5"/>
          <p:cNvSpPr>
            <a:spLocks noGrp="1"/>
          </p:cNvSpPr>
          <p:nvPr>
            <p:ph type="body" sz="quarter" idx="13"/>
          </p:nvPr>
        </p:nvSpPr>
        <p:spPr>
          <a:xfrm>
            <a:off x="1101470" y="3067224"/>
            <a:ext cx="4164797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endParaRPr lang="ko-KR" altLang="en-US" dirty="0"/>
          </a:p>
        </p:txBody>
      </p:sp>
      <p:sp>
        <p:nvSpPr>
          <p:cNvPr id="3" name="텍스트 개체 틀 15"/>
          <p:cNvSpPr>
            <a:spLocks noGrp="1"/>
          </p:cNvSpPr>
          <p:nvPr>
            <p:ph type="body" sz="quarter" idx="14"/>
          </p:nvPr>
        </p:nvSpPr>
        <p:spPr>
          <a:xfrm>
            <a:off x="1465535" y="3642955"/>
            <a:ext cx="4164797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255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. 서비스 제작배경 및 필요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8CA94D1F-AC46-FE49-8CEC-4EE8ECAF5DD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3276600" cy="344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제안배경 및 출품작 소개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구체성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455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활용 공공데이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C979D7C3-7423-6AD9-C3A0-F10BDD38490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7011988" cy="344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출품작 핵심내용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공공데이터 활용 적정성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구체성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실현가능성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기술성 등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4774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5383FD7E-86B0-E60C-2E92-FDFDEC17055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3205163" cy="303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 서비스와의 차별성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독창성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10720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3. 개발과정 및 방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458B6C31-7FBA-8A44-0CB7-B8436DC307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4446588" cy="344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개발과정 및 방법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제품 및 서비스개발만 해당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25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E48E4083-46EF-EF0D-7F1A-09FAEA6344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3022600" cy="344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5. IA(Information Architecture)</a:t>
            </a:r>
            <a:endParaRPr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9043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6. 서비스 활용방안 및 기대효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D6C5B226-C1BD-57C6-11C7-0B0143C0A9A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6694488" cy="344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출품작의 창업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사업화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시장성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매출 발생 및 투자가능성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 가능성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1439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149AA529-C449-67A6-9FC7-7ECE96C0D7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5599113" cy="344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7.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출품작 상용에 따른 파급효과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기대효과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사회적 가치 창출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972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7. 개발 툴 및 참고문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BCE8B1B3-646B-8438-DACC-58A3E4C920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4724400" cy="344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7.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 툴 및 참고문헌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 및 서비스개발만 해당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0862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4_기본 디자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그레이바탕">
            <a:extLst>
              <a:ext uri="{FF2B5EF4-FFF2-40B4-BE49-F238E27FC236}">
                <a16:creationId xmlns:a16="http://schemas.microsoft.com/office/drawing/2014/main" id="{DA37E5C1-C949-CD9D-238F-B289139D5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62475"/>
            <a:ext cx="121920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Line 462">
            <a:extLst>
              <a:ext uri="{FF2B5EF4-FFF2-40B4-BE49-F238E27FC236}">
                <a16:creationId xmlns:a16="http://schemas.microsoft.com/office/drawing/2014/main" id="{DFF776DA-A2B6-8C13-DA57-D6163F47330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43000"/>
            <a:ext cx="5351463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28" name="Line 488">
            <a:extLst>
              <a:ext uri="{FF2B5EF4-FFF2-40B4-BE49-F238E27FC236}">
                <a16:creationId xmlns:a16="http://schemas.microsoft.com/office/drawing/2014/main" id="{E90A4ED7-CC39-D9F6-0091-38A758068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429000"/>
            <a:ext cx="5351463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29" name="Line 489">
            <a:extLst>
              <a:ext uri="{FF2B5EF4-FFF2-40B4-BE49-F238E27FC236}">
                <a16:creationId xmlns:a16="http://schemas.microsoft.com/office/drawing/2014/main" id="{0ACF8DD9-023A-7ECD-5EB4-AD835D3BB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000500"/>
            <a:ext cx="5351463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30" name="Text Box 539">
            <a:extLst>
              <a:ext uri="{FF2B5EF4-FFF2-40B4-BE49-F238E27FC236}">
                <a16:creationId xmlns:a16="http://schemas.microsoft.com/office/drawing/2014/main" id="{9DD52E35-037C-672F-9920-DF5CE7EC7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704975"/>
            <a:ext cx="5256212" cy="4619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3000" b="0">
                <a:latin typeface="맑은 고딕" panose="020B0503020000020004" pitchFamily="50" charset="-127"/>
                <a:ea typeface="맑은 고딕" panose="020B0503020000020004" pitchFamily="50" charset="-127"/>
              </a:rPr>
              <a:t>상세기획서</a:t>
            </a:r>
          </a:p>
        </p:txBody>
      </p:sp>
      <p:sp>
        <p:nvSpPr>
          <p:cNvPr id="1031" name="Text Box 510">
            <a:extLst>
              <a:ext uri="{FF2B5EF4-FFF2-40B4-BE49-F238E27FC236}">
                <a16:creationId xmlns:a16="http://schemas.microsoft.com/office/drawing/2014/main" id="{6CF6A625-35BE-FFF6-ECDC-6C0F9E424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395413"/>
            <a:ext cx="7653337" cy="2460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6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16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서울시 빅데이터 활용 경진대회</a:t>
            </a:r>
            <a:r>
              <a:rPr lang="en-US" altLang="ko-KR" sz="16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 열린데이터광장</a:t>
            </a:r>
            <a:r>
              <a:rPr lang="en-US" altLang="ko-KR" sz="16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32" name="그림 1">
            <a:extLst>
              <a:ext uri="{FF2B5EF4-FFF2-40B4-BE49-F238E27FC236}">
                <a16:creationId xmlns:a16="http://schemas.microsoft.com/office/drawing/2014/main" id="{FB0694A7-E1D4-EAA9-D025-60DBA0264BC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275" y="6373813"/>
            <a:ext cx="2095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그림 12">
            <a:extLst>
              <a:ext uri="{FF2B5EF4-FFF2-40B4-BE49-F238E27FC236}">
                <a16:creationId xmlns:a16="http://schemas.microsoft.com/office/drawing/2014/main" id="{0D465765-131E-A0F2-3F57-43DAECE0800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558800"/>
            <a:ext cx="176053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텍스트 개체 틀 15">
            <a:extLst>
              <a:ext uri="{FF2B5EF4-FFF2-40B4-BE49-F238E27FC236}">
                <a16:creationId xmlns:a16="http://schemas.microsoft.com/office/drawing/2014/main" id="{7AED637E-CAD0-7B8D-B170-452613E6EA4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9063" y="3071813"/>
            <a:ext cx="1430337" cy="3603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542925" indent="-1588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990600" indent="-762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438275" indent="-23813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1790700" indent="381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2479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7051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1623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6195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서비스명</a:t>
            </a:r>
            <a:r>
              <a:rPr kumimoji="1"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endParaRPr kumimoji="1"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5" name="텍스트 개체 틀 15">
            <a:extLst>
              <a:ext uri="{FF2B5EF4-FFF2-40B4-BE49-F238E27FC236}">
                <a16:creationId xmlns:a16="http://schemas.microsoft.com/office/drawing/2014/main" id="{389379D2-38BE-354F-E04A-E10EEC74607B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9063" y="3644900"/>
            <a:ext cx="1430337" cy="358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542925" indent="-1588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990600" indent="-762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438275" indent="-23813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1790700" indent="381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2479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7051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1623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6195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참가자</a:t>
            </a:r>
            <a:r>
              <a:rPr kumimoji="1"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  <a:r>
              <a:rPr kumimoji="1"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1"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kumimoji="1"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endParaRPr kumimoji="1"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5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Times New Roman"/>
          <a:ea typeface="+mn-ea"/>
        </a:defRPr>
      </a:lvl2pPr>
      <a:lvl3pPr marL="990600" indent="-762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Times New Roman"/>
          <a:ea typeface="+mn-ea"/>
        </a:defRPr>
      </a:lvl3pPr>
      <a:lvl4pPr marL="1438275" indent="-238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Times New Roman"/>
          <a:ea typeface="+mn-ea"/>
        </a:defRPr>
      </a:lvl4pPr>
      <a:lvl5pPr marL="1790700" indent="381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Times New Roman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9_기본 디자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직사각형 15">
            <a:extLst>
              <a:ext uri="{FF2B5EF4-FFF2-40B4-BE49-F238E27FC236}">
                <a16:creationId xmlns:a16="http://schemas.microsoft.com/office/drawing/2014/main" id="{CC3BC565-65B7-2293-4AE7-D387891B9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0" y="106363"/>
            <a:ext cx="3684588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서울시 빅데이터 활용 경진대회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 열린데이터광장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CF1900F-D4AA-87FA-2207-29657A49B6CD}"/>
              </a:ext>
            </a:extLst>
          </p:cNvPr>
          <p:cNvSpPr/>
          <p:nvPr/>
        </p:nvSpPr>
        <p:spPr>
          <a:xfrm>
            <a:off x="8337550" y="107950"/>
            <a:ext cx="50800" cy="244475"/>
          </a:xfrm>
          <a:prstGeom prst="rect">
            <a:avLst/>
          </a:prstGeom>
          <a:solidFill>
            <a:srgbClr val="E8E8E8"/>
          </a:solidFill>
          <a:ln w="25400">
            <a:solidFill>
              <a:srgbClr val="FEFFFE"/>
            </a:solidFill>
            <a:miter/>
          </a:ln>
          <a:effectLst/>
        </p:spPr>
        <p:txBody>
          <a:bodyPr lIns="0" tIns="0" rIns="0" bIns="0" anchor="ctr"/>
          <a:lstStyle/>
          <a:p>
            <a:pPr algn="ctr" defTabSz="1080135" eaLnBrk="1" hangingPunct="1">
              <a:defRPr/>
            </a:pPr>
            <a:endParaRPr lang="ko-KR" altLang="en-US" sz="2000" b="0" spc="5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A4528A0-02B3-A24C-7B64-0E6A1C5CBC4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16700"/>
            <a:ext cx="12192000" cy="223838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01000"/>
              </a:lnSpc>
              <a:spcBef>
                <a:spcPct val="50000"/>
              </a:spcBef>
              <a:defRPr/>
            </a:pPr>
            <a:r>
              <a:rPr kumimoji="1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AAE62219-0AD5-1F49-A8A3-173309D3460C}" type="slidenum">
              <a:rPr kumimoji="1" lang="en-US" altLang="ko-KR" sz="900" b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lnSpc>
                  <a:spcPct val="101000"/>
                </a:lnSpc>
                <a:spcBef>
                  <a:spcPct val="50000"/>
                </a:spcBef>
                <a:defRPr/>
              </a:pPr>
              <a:t>‹#›</a:t>
            </a:fld>
            <a:r>
              <a:rPr kumimoji="1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60692E7-630E-F35C-DF5F-FF696D1B991B}"/>
              </a:ext>
            </a:extLst>
          </p:cNvPr>
          <p:cNvCxnSpPr/>
          <p:nvPr userDrawn="1"/>
        </p:nvCxnSpPr>
        <p:spPr>
          <a:xfrm>
            <a:off x="119063" y="476250"/>
            <a:ext cx="1195387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</a:ln>
          <a:effectLst/>
        </p:spPr>
      </p:cxnSp>
      <p:pic>
        <p:nvPicPr>
          <p:cNvPr id="2054" name="그림 6">
            <a:extLst>
              <a:ext uri="{FF2B5EF4-FFF2-40B4-BE49-F238E27FC236}">
                <a16:creationId xmlns:a16="http://schemas.microsoft.com/office/drawing/2014/main" id="{1BB0767E-3477-56DA-CAD1-B24CB6F4516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120650"/>
            <a:ext cx="947738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  <p:sldLayoutId id="2147483983" r:id="rId5"/>
    <p:sldLayoutId id="2147483984" r:id="rId6"/>
    <p:sldLayoutId id="2147483985" r:id="rId7"/>
    <p:sldLayoutId id="2147483986" r:id="rId8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5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Times New Roman"/>
          <a:ea typeface="+mn-ea"/>
        </a:defRPr>
      </a:lvl2pPr>
      <a:lvl3pPr marL="990600" indent="-762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Times New Roman"/>
          <a:ea typeface="+mn-ea"/>
        </a:defRPr>
      </a:lvl3pPr>
      <a:lvl4pPr marL="1438275" indent="-238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Times New Roman"/>
          <a:ea typeface="+mn-ea"/>
        </a:defRPr>
      </a:lvl4pPr>
      <a:lvl5pPr marL="1790700" indent="381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Times New Roman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텍스트 개체 틀 1">
            <a:extLst>
              <a:ext uri="{FF2B5EF4-FFF2-40B4-BE49-F238E27FC236}">
                <a16:creationId xmlns:a16="http://schemas.microsoft.com/office/drawing/2014/main" id="{A7E17E48-90EB-A440-2537-9E073ED6B0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1101725" y="3067050"/>
            <a:ext cx="100584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sz="1800" b="1">
                <a:solidFill>
                  <a:srgbClr val="222222"/>
                </a:solidFill>
                <a:ea typeface="맑은 고딕"/>
                <a:cs typeface="맑은 고딕"/>
              </a:rPr>
              <a:t>DIDIM (디딤) — 청년 위험군 단계 맞춤 자격증·로드맵 추천 시스템</a:t>
            </a:r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3315" name="텍스트 개체 틀 2">
            <a:extLst>
              <a:ext uri="{FF2B5EF4-FFF2-40B4-BE49-F238E27FC236}">
                <a16:creationId xmlns:a16="http://schemas.microsoft.com/office/drawing/2014/main" id="{B1AAE7EF-FA1E-D0D5-F614-BA822FBF7D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auto">
          <a:xfrm>
            <a:off x="1465263" y="3643313"/>
            <a:ext cx="10058400" cy="3603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sz="2000" b="1">
                <a:solidFill>
                  <a:srgbClr val="222222"/>
                </a:solidFill>
                <a:ea typeface="맑은 고딕"/>
                <a:cs typeface="맑은 고딕"/>
              </a:rPr>
              <a:t>DBMs</a:t>
            </a:r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BC62B7-1A75-CD90-47C4-B60CD1A37078}"/>
              </a:ext>
            </a:extLst>
          </p:cNvPr>
          <p:cNvSpPr/>
          <p:nvPr/>
        </p:nvSpPr>
        <p:spPr>
          <a:xfrm>
            <a:off x="28575" y="4635500"/>
            <a:ext cx="9540875" cy="129222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  <p:txBody>
          <a:bodyPr>
            <a:spAutoFit/>
          </a:bodyPr>
          <a:lstStyle>
            <a:lvl1pPr marL="2857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9pPr>
          </a:lstStyle>
          <a:p>
            <a:pPr eaLnBrk="1" latinLnBrk="1" hangingPunct="1">
              <a:buFont typeface="Wingdings" pitchFamily="2" charset="2"/>
              <a:buChar char="l"/>
            </a:pPr>
            <a:r>
              <a:rPr lang="ko-KR" altLang="en-US" sz="1400">
                <a:solidFill>
                  <a:srgbClr val="FF0000"/>
                </a:solidFill>
              </a:rPr>
              <a:t>상세기획서 작성항목을 준수하여 </a:t>
            </a:r>
            <a:r>
              <a:rPr lang="en-US" altLang="ko-KR" sz="1400">
                <a:solidFill>
                  <a:srgbClr val="FF0000"/>
                </a:solidFill>
              </a:rPr>
              <a:t>PPT</a:t>
            </a:r>
            <a:r>
              <a:rPr lang="ko-KR" altLang="en-US" sz="1400">
                <a:solidFill>
                  <a:srgbClr val="FF0000"/>
                </a:solidFill>
              </a:rPr>
              <a:t>로 작성합니다</a:t>
            </a:r>
            <a:r>
              <a:rPr lang="en-US" altLang="ko-KR" sz="1400">
                <a:solidFill>
                  <a:srgbClr val="FF0000"/>
                </a:solidFill>
              </a:rPr>
              <a:t>. </a:t>
            </a:r>
          </a:p>
          <a:p>
            <a:pPr eaLnBrk="1" latinLnBrk="1" hangingPunct="1">
              <a:buFont typeface="Wingdings" pitchFamily="2" charset="2"/>
              <a:buChar char="l"/>
            </a:pPr>
            <a:r>
              <a:rPr lang="en-US" altLang="ko-KR" sz="1400">
                <a:solidFill>
                  <a:srgbClr val="FF0000"/>
                </a:solidFill>
              </a:rPr>
              <a:t>PPT</a:t>
            </a:r>
            <a:r>
              <a:rPr lang="ko-KR" altLang="en-US" sz="1400">
                <a:solidFill>
                  <a:srgbClr val="FF0000"/>
                </a:solidFill>
              </a:rPr>
              <a:t>디자인</a:t>
            </a:r>
            <a:r>
              <a:rPr lang="en-US" altLang="ko-KR" sz="1400">
                <a:solidFill>
                  <a:srgbClr val="FF0000"/>
                </a:solidFill>
              </a:rPr>
              <a:t>, </a:t>
            </a:r>
            <a:r>
              <a:rPr lang="ko-KR" altLang="en-US" sz="1400">
                <a:solidFill>
                  <a:srgbClr val="FF0000"/>
                </a:solidFill>
              </a:rPr>
              <a:t>폰트 등은 자유롭게 구성합니다</a:t>
            </a:r>
            <a:r>
              <a:rPr lang="en-US" altLang="ko-KR" sz="1400">
                <a:solidFill>
                  <a:srgbClr val="FF0000"/>
                </a:solidFill>
              </a:rPr>
              <a:t>. </a:t>
            </a:r>
            <a:r>
              <a:rPr lang="en-US" altLang="ko-KR" sz="1100"/>
              <a:t>*</a:t>
            </a:r>
            <a:r>
              <a:rPr lang="ko-KR" altLang="en-US" sz="1100"/>
              <a:t>별도의 폰트 사용시 </a:t>
            </a:r>
            <a:r>
              <a:rPr lang="en-US" altLang="ko-KR" sz="1100"/>
              <a:t>[</a:t>
            </a:r>
            <a:r>
              <a:rPr lang="ko-KR" altLang="en-US" sz="1100"/>
              <a:t>파일에 글꼴 포함</a:t>
            </a:r>
            <a:r>
              <a:rPr lang="en-US" altLang="ko-KR" sz="1100"/>
              <a:t>]</a:t>
            </a:r>
            <a:r>
              <a:rPr lang="ko-KR" altLang="en-US" sz="1100"/>
              <a:t>으로 저장하여 제출</a:t>
            </a:r>
            <a:r>
              <a:rPr lang="en-US" altLang="ko-KR" sz="1100"/>
              <a:t>.</a:t>
            </a:r>
          </a:p>
          <a:p>
            <a:pPr eaLnBrk="1" latinLnBrk="1" hangingPunct="1">
              <a:buFont typeface="Wingdings" pitchFamily="2" charset="2"/>
              <a:buChar char="l"/>
            </a:pPr>
            <a:r>
              <a:rPr lang="ko-KR" altLang="en-US" sz="1400">
                <a:solidFill>
                  <a:srgbClr val="FF0000"/>
                </a:solidFill>
              </a:rPr>
              <a:t>①상세기획서</a:t>
            </a:r>
            <a:r>
              <a:rPr lang="en-US" altLang="ko-KR" sz="1400">
                <a:solidFill>
                  <a:srgbClr val="FF0000"/>
                </a:solidFill>
              </a:rPr>
              <a:t>(PPT)</a:t>
            </a:r>
            <a:r>
              <a:rPr lang="ko-KR" altLang="en-US" sz="1400">
                <a:solidFill>
                  <a:srgbClr val="FF0000"/>
                </a:solidFill>
              </a:rPr>
              <a:t> 제출</a:t>
            </a:r>
            <a:endParaRPr lang="en-US" altLang="ko-KR" sz="1400">
              <a:solidFill>
                <a:srgbClr val="FF0000"/>
              </a:solidFill>
            </a:endParaRPr>
          </a:p>
          <a:p>
            <a:pPr eaLnBrk="1" latinLnBrk="1" hangingPunct="1"/>
            <a:r>
              <a:rPr lang="en-US" altLang="ko-KR" sz="800" u="sng">
                <a:solidFill>
                  <a:srgbClr val="FF0000"/>
                </a:solidFill>
              </a:rPr>
              <a:t>   </a:t>
            </a:r>
          </a:p>
          <a:p>
            <a:pPr eaLnBrk="1" latinLnBrk="1" hangingPunct="1"/>
            <a:r>
              <a:rPr lang="en-US" altLang="ko-KR" sz="1400"/>
              <a:t>   - </a:t>
            </a:r>
            <a:r>
              <a:rPr lang="ko-KR" altLang="en-US" sz="1400"/>
              <a:t>페이지 분량 </a:t>
            </a:r>
            <a:r>
              <a:rPr lang="en-US" altLang="ko-KR" sz="1400"/>
              <a:t>: 10~30</a:t>
            </a:r>
            <a:r>
              <a:rPr lang="ko-KR" altLang="en-US" sz="1400"/>
              <a:t>페이지 내외</a:t>
            </a:r>
            <a:r>
              <a:rPr lang="en-US" altLang="ko-KR" sz="1400"/>
              <a:t>    </a:t>
            </a:r>
          </a:p>
          <a:p>
            <a:pPr eaLnBrk="1" latinLnBrk="1" hangingPunct="1"/>
            <a:r>
              <a:rPr lang="ko-KR" altLang="en-US" sz="1400"/>
              <a:t>   </a:t>
            </a:r>
            <a:r>
              <a:rPr lang="en-US" altLang="ko-KR" sz="1400"/>
              <a:t>- </a:t>
            </a:r>
            <a:r>
              <a:rPr lang="ko-KR" altLang="en-US" sz="1400"/>
              <a:t>공정한 심사를 위해 상세기획서</a:t>
            </a:r>
            <a:r>
              <a:rPr lang="en-US" altLang="ko-KR" sz="1400"/>
              <a:t>(PPT)</a:t>
            </a:r>
            <a:r>
              <a:rPr lang="ko-KR" altLang="en-US" sz="1400"/>
              <a:t> 내에 개인정보</a:t>
            </a:r>
            <a:r>
              <a:rPr lang="en-US" altLang="ko-KR" sz="1400"/>
              <a:t> </a:t>
            </a:r>
            <a:r>
              <a:rPr lang="ko-KR" altLang="en-US" sz="1400"/>
              <a:t>기재를 금지 합니다</a:t>
            </a:r>
            <a:r>
              <a:rPr lang="en-US" altLang="ko-KR" sz="1400"/>
              <a:t>.(</a:t>
            </a:r>
            <a:r>
              <a:rPr lang="ko-KR" altLang="en-US" sz="1400"/>
              <a:t>팀이름만 기재</a:t>
            </a:r>
            <a:r>
              <a:rPr lang="en-US" altLang="ko-KR" sz="1400"/>
              <a:t>(</a:t>
            </a:r>
            <a:r>
              <a:rPr lang="ko-KR" altLang="en-US" sz="1400"/>
              <a:t>개인은 성명 작성</a:t>
            </a:r>
            <a:r>
              <a:rPr lang="en-US" altLang="ko-KR" sz="1400"/>
              <a:t>))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685800"/>
            <a:ext cx="57607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청년 현황 — 다층적 단절의 현실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576072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서울시 청년 중 고립·은둔 분류 비율 8.82%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고립군 청년 50.2%가 “지난주 일을 하지 않음”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  (비고립군 9.8% / Cohen's h ≈ 0.94)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고립군 청년 62.6%가 “대면교류 전혀 없음”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  (비고립군 8.0% / Cohen's h ≈ 1.25)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ea typeface="맑은 고딕"/>
                <a:cs typeface="맑은 고딕"/>
              </a:rPr>
              <a:t>→ 노동·관계·정서가 동시에 무너지는 다층적 단절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063240"/>
            <a:ext cx="57607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현 제도의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576072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① 사용자 반영성 — 청년 개인의 위험 단계를 반영하지 못한 획일적 정보 제공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② 채널 분리 — 자격증·진로·심리지원의 플랫폼 분산, 통합 채널 부재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③ 단발성 지원 — 일회성 상담·인증서 발급에 그치는 구조, 단계 연계형 지원 공백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85800"/>
            <a:ext cx="539496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통계적 근거 (SHAP, R² = 0.72)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43000"/>
            <a:ext cx="539496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취득목적-업무관련성: 업무 관련성이 높을수록 취업 가능성 ↑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전공 관련도: 전공 관련 자격증 보유 시 취업 확률 ↑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취업 도움 정도: 자격증의 취업 도움 인식이 높을수록 취업 확률 ↑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ea typeface="맑은 고딕"/>
                <a:cs typeface="맑은 고딕"/>
              </a:rPr>
              <a:t>→ 자신의 전공·진로 방향에 부합하는 자격증 선택이 중요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063240"/>
            <a:ext cx="539496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출품작 — DIDIM (디딤)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20440"/>
            <a:ext cx="539496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청년 위험군 단계(1~5단계)에 맞춰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자격증을 추천하고 단계형 로드맵을 제시하는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ea typeface="맑은 고딕"/>
                <a:cs typeface="맑은 고딕"/>
              </a:rPr>
              <a:t>데이터 기반 추천 시스템</a:t>
            </a:r>
          </a:p>
          <a:p>
            <a:pPr algn="l">
              <a:spcAft>
                <a:spcPts val="300"/>
              </a:spcAft>
            </a:pPr>
            <a:endParaRPr sz="1200" b="1">
              <a:solidFill>
                <a:srgbClr val="222222"/>
              </a:solidFill>
              <a:ea typeface="맑은 고딕"/>
              <a:cs typeface="맑은 고딕"/>
            </a:endParaRP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ea typeface="맑은 고딕"/>
                <a:cs typeface="맑은 고딕"/>
              </a:rPr>
              <a:t>진단(12문항) → 매칭(taxonomy) → 경로(DAG) → 근거(RAG)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68580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활용 공공데이터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11365992" cy="249299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300"/>
              </a:spcAft>
            </a:pP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· </a:t>
            </a:r>
            <a:r>
              <a:rPr sz="1200" b="0" dirty="0" err="1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한국산업인력공단</a:t>
            </a: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 — </a:t>
            </a:r>
            <a:r>
              <a:rPr lang="ko-KR" altLang="ko-Kore-KR" sz="1200" dirty="0">
                <a:latin typeface="+mj-lt"/>
              </a:rPr>
              <a:t>「한국산업인력공단</a:t>
            </a:r>
            <a:r>
              <a:rPr lang="en-US" altLang="ko-Kore-KR" sz="1200" dirty="0">
                <a:latin typeface="+mj-lt"/>
              </a:rPr>
              <a:t>_NCS </a:t>
            </a:r>
            <a:r>
              <a:rPr lang="ko-KR" altLang="ko-Kore-KR" sz="1200" dirty="0">
                <a:latin typeface="+mj-lt"/>
              </a:rPr>
              <a:t>능력단위별 자격 종목 조회 서비스」 </a:t>
            </a:r>
            <a:r>
              <a:rPr lang="en-US" altLang="ko-Kore-KR" sz="1200" dirty="0">
                <a:latin typeface="+mj-lt"/>
              </a:rPr>
              <a:t>,</a:t>
            </a:r>
            <a:r>
              <a:rPr lang="ko-KR" altLang="ko-Kore-KR" sz="1200" dirty="0">
                <a:latin typeface="+mj-lt"/>
              </a:rPr>
              <a:t>「한국산업인력공단</a:t>
            </a:r>
            <a:r>
              <a:rPr lang="en-US" altLang="ko-Kore-KR" sz="1200" dirty="0">
                <a:latin typeface="+mj-lt"/>
              </a:rPr>
              <a:t>_</a:t>
            </a:r>
            <a:r>
              <a:rPr lang="ko-KR" altLang="ko-Kore-KR" sz="1200" dirty="0">
                <a:latin typeface="+mj-lt"/>
              </a:rPr>
              <a:t>국가자격 종목별 자격정보」 </a:t>
            </a:r>
            <a:r>
              <a:rPr lang="en-US" altLang="ko-Kore-KR" sz="1200" dirty="0">
                <a:latin typeface="+mj-lt"/>
              </a:rPr>
              <a:t>, </a:t>
            </a:r>
            <a:r>
              <a:rPr lang="ko-KR" altLang="ko-Kore-KR" sz="1200" dirty="0">
                <a:latin typeface="+mj-lt"/>
              </a:rPr>
              <a:t>「국가기술자격 취득 관련 현황」 </a:t>
            </a:r>
            <a:r>
              <a:rPr lang="en-US" altLang="ko-Kore-KR" sz="1200" dirty="0">
                <a:latin typeface="+mj-lt"/>
              </a:rPr>
              <a:t>,</a:t>
            </a:r>
            <a:r>
              <a:rPr lang="ko-KR" altLang="ko-Kore-KR" sz="1200" dirty="0">
                <a:latin typeface="+mj-lt"/>
              </a:rPr>
              <a:t>「국가기술자격 종목별 시험정보</a:t>
            </a:r>
            <a:r>
              <a:rPr lang="ko-KR" altLang="ko-Kore-KR" sz="1200" dirty="0"/>
              <a:t>」</a:t>
            </a:r>
            <a:r>
              <a:rPr lang="en-US" altLang="ko-KR" sz="1200" dirty="0"/>
              <a:t>-</a:t>
            </a:r>
            <a:r>
              <a:rPr lang="ko-KR" altLang="en-US" sz="1200" dirty="0"/>
              <a:t> </a:t>
            </a:r>
            <a:r>
              <a:rPr sz="1200" b="0" dirty="0" err="1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국가기술·전문·민간</a:t>
            </a: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자격증</a:t>
            </a: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 (1,290건) · Q-Net </a:t>
            </a:r>
            <a:r>
              <a:rPr sz="1200" b="0" dirty="0" err="1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자격증</a:t>
            </a: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 API</a:t>
            </a:r>
          </a:p>
          <a:p>
            <a:pPr algn="l">
              <a:spcAft>
                <a:spcPts val="300"/>
              </a:spcAft>
            </a:pP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· </a:t>
            </a:r>
            <a:r>
              <a:rPr sz="1200" b="0" dirty="0" err="1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커리어넷</a:t>
            </a: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 OPEN API — </a:t>
            </a:r>
            <a:r>
              <a:rPr sz="1200" b="0" dirty="0" err="1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학과정보</a:t>
            </a: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(8,114건), </a:t>
            </a:r>
            <a:r>
              <a:rPr sz="1200" b="0" dirty="0" err="1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직업정보</a:t>
            </a: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(3,381건)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· </a:t>
            </a:r>
            <a:r>
              <a:rPr sz="1200" b="0" dirty="0" err="1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서울시</a:t>
            </a: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 </a:t>
            </a:r>
            <a:r>
              <a:rPr lang="ko-KR" altLang="ko-Kore-KR" sz="1200" dirty="0">
                <a:latin typeface="+mj-lt"/>
              </a:rPr>
              <a:t>서울 </a:t>
            </a:r>
            <a:r>
              <a:rPr lang="ko-KR" altLang="ko-Kore-KR" sz="1200" dirty="0" err="1">
                <a:latin typeface="+mj-lt"/>
              </a:rPr>
              <a:t>열린데이터광장</a:t>
            </a:r>
            <a:r>
              <a:rPr lang="ko-KR" altLang="ko-Kore-KR" sz="1200" dirty="0">
                <a:latin typeface="+mj-lt"/>
              </a:rPr>
              <a:t> 「서울시</a:t>
            </a:r>
            <a:r>
              <a:rPr lang="en-US" altLang="ko-Kore-KR" sz="1200" dirty="0">
                <a:latin typeface="+mj-lt"/>
              </a:rPr>
              <a:t>_</a:t>
            </a:r>
            <a:r>
              <a:rPr lang="ko-KR" altLang="ko-Kore-KR" sz="1200" dirty="0" err="1">
                <a:latin typeface="+mj-lt"/>
              </a:rPr>
              <a:t>고립은둔</a:t>
            </a:r>
            <a:r>
              <a:rPr lang="ko-KR" altLang="ko-Kore-KR" sz="1200" dirty="0">
                <a:latin typeface="+mj-lt"/>
              </a:rPr>
              <a:t> 청년 실태조사 결과 현황」 의</a:t>
            </a:r>
            <a:r>
              <a:rPr lang="ko-KR" altLang="ko-Kore-KR" sz="1400" dirty="0">
                <a:latin typeface="+mj-lt"/>
              </a:rPr>
              <a:t> </a:t>
            </a:r>
            <a:r>
              <a:rPr lang="en-US" altLang="ko-Kore-KR" sz="1200" dirty="0">
                <a:latin typeface="+mj-lt"/>
              </a:rPr>
              <a:t>★TABLE_</a:t>
            </a:r>
            <a:r>
              <a:rPr lang="ko-KR" altLang="ko-Kore-KR" sz="1200" dirty="0">
                <a:latin typeface="+mj-lt"/>
              </a:rPr>
              <a:t>서울시 </a:t>
            </a:r>
            <a:r>
              <a:rPr lang="ko-KR" altLang="ko-Kore-KR" sz="1200" dirty="0" err="1">
                <a:latin typeface="+mj-lt"/>
              </a:rPr>
              <a:t>고립은둔청년</a:t>
            </a:r>
            <a:r>
              <a:rPr lang="ko-KR" altLang="ko-Kore-KR" sz="1200" dirty="0">
                <a:latin typeface="+mj-lt"/>
              </a:rPr>
              <a:t> 실태조사</a:t>
            </a:r>
            <a:r>
              <a:rPr lang="en-US" altLang="ko-Kore-KR" sz="1200" dirty="0">
                <a:latin typeface="+mj-lt"/>
              </a:rPr>
              <a:t>(</a:t>
            </a:r>
            <a:r>
              <a:rPr lang="ko-KR" altLang="ko-Kore-KR" sz="1200" dirty="0">
                <a:latin typeface="+mj-lt"/>
              </a:rPr>
              <a:t>청년조사</a:t>
            </a:r>
            <a:r>
              <a:rPr lang="en-US" altLang="ko-Kore-KR" sz="1200" dirty="0">
                <a:latin typeface="+mj-lt"/>
              </a:rPr>
              <a:t>)_</a:t>
            </a:r>
            <a:r>
              <a:rPr lang="ko-KR" altLang="ko-Kore-KR" sz="1200" dirty="0">
                <a:latin typeface="+mj-lt"/>
              </a:rPr>
              <a:t>전체</a:t>
            </a:r>
            <a:r>
              <a:rPr lang="en-US" altLang="ko-Kore-KR" sz="1200" dirty="0">
                <a:latin typeface="+mj-lt"/>
              </a:rPr>
              <a:t>_v1_230127.xlsx</a:t>
            </a:r>
            <a:r>
              <a:rPr lang="en-US" altLang="ko-KR" sz="1200" dirty="0">
                <a:latin typeface="+mj-lt"/>
              </a:rPr>
              <a:t>,</a:t>
            </a:r>
            <a:r>
              <a:rPr lang="ko-KR" altLang="en-US" sz="1200" dirty="0">
                <a:latin typeface="+mj-lt"/>
              </a:rPr>
              <a:t> </a:t>
            </a:r>
            <a:r>
              <a:rPr lang="ko-KR" altLang="ko-Kore-KR" sz="1200" dirty="0">
                <a:latin typeface="+mj-lt"/>
              </a:rPr>
              <a:t>「서울시 청년</a:t>
            </a:r>
            <a:r>
              <a:rPr lang="en-US" altLang="ko-Kore-KR" sz="1200" dirty="0">
                <a:latin typeface="+mj-lt"/>
              </a:rPr>
              <a:t>(15</a:t>
            </a:r>
            <a:r>
              <a:rPr lang="ko-KR" altLang="ko-Kore-KR" sz="1200" dirty="0">
                <a:latin typeface="+mj-lt"/>
              </a:rPr>
              <a:t>세</a:t>
            </a:r>
            <a:r>
              <a:rPr lang="en-US" altLang="ko-Kore-KR" sz="1200" dirty="0">
                <a:latin typeface="+mj-lt"/>
              </a:rPr>
              <a:t>~29</a:t>
            </a:r>
            <a:r>
              <a:rPr lang="ko-KR" altLang="ko-Kore-KR" sz="1200" dirty="0">
                <a:latin typeface="+mj-lt"/>
              </a:rPr>
              <a:t>세</a:t>
            </a:r>
            <a:r>
              <a:rPr lang="en-US" altLang="ko-Kore-KR" sz="1200" dirty="0">
                <a:latin typeface="+mj-lt"/>
              </a:rPr>
              <a:t>) </a:t>
            </a:r>
            <a:r>
              <a:rPr lang="ko-KR" altLang="ko-Kore-KR" sz="1200" dirty="0">
                <a:latin typeface="+mj-lt"/>
              </a:rPr>
              <a:t>고용지표 통계」</a:t>
            </a:r>
            <a:r>
              <a:rPr lang="ko-KR" altLang="ko-Kore-KR" sz="1200" dirty="0"/>
              <a:t> </a:t>
            </a:r>
            <a:endParaRPr lang="ko-Kore-KR" altLang="ko-Kore-KR" sz="1200" dirty="0">
              <a:latin typeface="+mj-lt"/>
            </a:endParaRPr>
          </a:p>
          <a:p>
            <a:pPr algn="l">
              <a:spcAft>
                <a:spcPts val="300"/>
              </a:spcAft>
            </a:pP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— 138문항 · n=5,513</a:t>
            </a:r>
          </a:p>
          <a:p>
            <a:pPr algn="l">
              <a:spcAft>
                <a:spcPts val="300"/>
              </a:spcAft>
            </a:pP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· </a:t>
            </a:r>
            <a:r>
              <a:rPr sz="1200" b="0" dirty="0" err="1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공공데이터포털</a:t>
            </a: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 / </a:t>
            </a:r>
            <a:r>
              <a:rPr sz="1200" b="0" dirty="0" err="1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서울</a:t>
            </a: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열린데이터광장</a:t>
            </a: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 — </a:t>
            </a:r>
            <a:r>
              <a:rPr sz="1200" b="0" dirty="0" err="1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위험군</a:t>
            </a: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분포</a:t>
            </a: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검증·통계</a:t>
            </a:r>
            <a:r>
              <a:rPr sz="1200" b="0" dirty="0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222222"/>
                </a:solidFill>
                <a:latin typeface="+mj-lt"/>
                <a:ea typeface="맑은 고딕"/>
                <a:cs typeface="맑은 고딕"/>
              </a:rPr>
              <a:t>비교</a:t>
            </a:r>
            <a:endParaRPr lang="en-US" sz="1200" b="0" dirty="0">
              <a:solidFill>
                <a:srgbClr val="222222"/>
              </a:solidFill>
              <a:latin typeface="+mj-lt"/>
              <a:ea typeface="맑은 고딕"/>
              <a:cs typeface="맑은 고딕"/>
            </a:endParaRPr>
          </a:p>
          <a:p>
            <a:pPr algn="l">
              <a:spcAft>
                <a:spcPts val="300"/>
              </a:spcAft>
            </a:pPr>
            <a:endParaRPr lang="en-US" sz="1200" b="0" dirty="0">
              <a:solidFill>
                <a:srgbClr val="222222"/>
              </a:solidFill>
              <a:ea typeface="맑은 고딕"/>
              <a:cs typeface="맑은 고딕"/>
            </a:endParaRPr>
          </a:p>
          <a:p>
            <a:pPr algn="l">
              <a:spcAft>
                <a:spcPts val="300"/>
              </a:spcAft>
            </a:pPr>
            <a:endParaRPr lang="en-US" sz="1200" b="0" dirty="0">
              <a:solidFill>
                <a:srgbClr val="222222"/>
              </a:solidFill>
              <a:ea typeface="맑은 고딕"/>
              <a:cs typeface="맑은 고딕"/>
            </a:endParaRPr>
          </a:p>
          <a:p>
            <a:pPr algn="l">
              <a:spcAft>
                <a:spcPts val="300"/>
              </a:spcAft>
            </a:pPr>
            <a:endParaRPr lang="en-US" sz="1200" b="0" dirty="0">
              <a:solidFill>
                <a:srgbClr val="222222"/>
              </a:solidFill>
              <a:ea typeface="맑은 고딕"/>
              <a:cs typeface="맑은 고딕"/>
            </a:endParaRPr>
          </a:p>
          <a:p>
            <a:pPr algn="l">
              <a:spcAft>
                <a:spcPts val="300"/>
              </a:spcAft>
            </a:pPr>
            <a:endParaRPr sz="1200" b="0" dirty="0">
              <a:solidFill>
                <a:srgbClr val="222222"/>
              </a:solidFill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2758886"/>
            <a:ext cx="11365992" cy="37407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1E55A0"/>
                </a:solidFill>
                <a:ea typeface="맑은 고딕"/>
                <a:cs typeface="맑은 고딕"/>
              </a:rPr>
              <a:t>■ </a:t>
            </a:r>
            <a:r>
              <a:rPr sz="1600" b="1" dirty="0" err="1">
                <a:solidFill>
                  <a:srgbClr val="1E55A0"/>
                </a:solidFill>
                <a:ea typeface="맑은 고딕"/>
                <a:cs typeface="맑은 고딕"/>
              </a:rPr>
              <a:t>데이터</a:t>
            </a:r>
            <a:r>
              <a:rPr sz="1600" b="1" dirty="0">
                <a:solidFill>
                  <a:srgbClr val="1E55A0"/>
                </a:solidFill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1E55A0"/>
                </a:solidFill>
                <a:ea typeface="맑은 고딕"/>
                <a:cs typeface="맑은 고딕"/>
              </a:rPr>
              <a:t>처리</a:t>
            </a:r>
            <a:r>
              <a:rPr sz="1600" b="1" dirty="0">
                <a:solidFill>
                  <a:srgbClr val="1E55A0"/>
                </a:solidFill>
                <a:ea typeface="맑은 고딕"/>
                <a:cs typeface="맑은 고딕"/>
              </a:rPr>
              <a:t> — 2-Lane </a:t>
            </a:r>
            <a:r>
              <a:rPr sz="1600" b="1" dirty="0" err="1">
                <a:solidFill>
                  <a:srgbClr val="1E55A0"/>
                </a:solidFill>
                <a:ea typeface="맑은 고딕"/>
                <a:cs typeface="맑은 고딕"/>
              </a:rPr>
              <a:t>구조</a:t>
            </a:r>
            <a:endParaRPr sz="1600" b="1" dirty="0">
              <a:solidFill>
                <a:srgbClr val="1E55A0"/>
              </a:solidFill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3268039"/>
            <a:ext cx="11365992" cy="141316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ea typeface="맑은 고딕"/>
                <a:cs typeface="맑은 고딕"/>
              </a:rPr>
              <a:t>LANE A · STRUCTURED RECOMMENDATION (CSV/API)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   - 자격증 / 도메인(Top 9 · Sub 44) / 전공 / 직무 → canonical entity·relation·candidate row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ea typeface="맑은 고딕"/>
                <a:cs typeface="맑은 고딕"/>
              </a:rPr>
              <a:t>LANE B · EVIDENCE (PDF/HTML)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   - Q-Net 공식 안내문 · 시험 안내 · FAQ · 2026 연간일정 → parse·chunk·embed → pgvector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2628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위험군 5단계 — 12문항 가중 합산 점수 분포 기반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983480"/>
            <a:ext cx="11365992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12문항 = 관계망 4 + 노동·경제 4 + 심리·안전 4 (Cohen's h 변별력 Top 8 + 보강 4)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단계 경계 점수: 12.71 / 18.21 / 29.62 / 35.55 (동일 분산 분류)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Stage 1 취업 안정권 ~ Stage 5 최고위험군 (1·5단계는 정책 고정, 2~4단계는 데이터 기준)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시뮬레이션 검증 ROC-AUC 0.9915 — 비고립군 90%는 1~2단계, 고립군 98%는 3~5단계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68580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Before / After — 디딤이 바꾸는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0"/>
            <a:ext cx="57607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ea typeface="맑은 고딕"/>
                <a:cs typeface="맑은 고딕"/>
              </a:rPr>
              <a:t>BEFORE — 기존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3640" y="1188720"/>
            <a:ext cx="57607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ea typeface="맑은 고딕"/>
                <a:cs typeface="맑은 고딕"/>
              </a:rPr>
              <a:t>WITH DIDIM — 디딤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76072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cs typeface="맑은 고딕"/>
              </a:rPr>
              <a:t>· 일률적 자격증 목록 제공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cs typeface="맑은 고딕"/>
              </a:rPr>
              <a:t>· 추천 이유를 알 수 없음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cs typeface="맑은 고딕"/>
              </a:rPr>
              <a:t>· 다음 스텝을 알 수 없음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cs typeface="맑은 고딕"/>
              </a:rPr>
              <a:t>· 정보의 출처가 불명확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91640"/>
            <a:ext cx="576072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cs typeface="맑은 고딕"/>
              </a:rPr>
              <a:t>· 12문항 진단 → 위험군 5단계 맞춤 추천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cs typeface="맑은 고딕"/>
              </a:rPr>
              <a:t>· 자격증 ↔ 직무 ↔ 도메인 taxonomy 매칭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cs typeface="맑은 고딕"/>
              </a:rPr>
              <a:t>· 단계형 DAG 로드맵 (실제 이동 가능한 경로만)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cs typeface="맑은 고딕"/>
              </a:rPr>
              <a:t>· 공식 문서 기반 RAG 근거 동시 제공 (환각 방지)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25196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709160"/>
            <a:ext cx="1136599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cs typeface="맑은 고딕"/>
              </a:rPr>
              <a:t>· 자기 효능감 회복 — 작은 성취부터 단계형 진입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cs typeface="맑은 고딕"/>
              </a:rPr>
              <a:t>· 노동 재진입의 첫 발판 마련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cs typeface="맑은 고딕"/>
              </a:rPr>
              <a:t>· 진로 결정 비용 감소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cs typeface="맑은 고딕"/>
              </a:rPr>
              <a:t>· 환각 없는 신뢰 추천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85216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55A0"/>
                </a:solidFill>
                <a:ea typeface="맑은 고딕"/>
                <a:cs typeface="맑은 고딕"/>
              </a:rPr>
              <a:t>■ 핵심 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217920"/>
            <a:ext cx="11365992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ea typeface="맑은 고딕"/>
                <a:cs typeface="맑은 고딕"/>
              </a:rPr>
              <a:t>진단(Diagnose) → 매칭(Match) → 경로(Path) → 근거(Evidence)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68580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추천 파이프라인 (5 STEP)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11365992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STEP 1 · INPUT — 위험군 단계 / 관심 도메인 / (선택) 관심 직무 입력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STEP 2 · NORMALIZE — taxonomy.txt 정규화 + 별칭 매핑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STEP 3 · QUERY — 조회 + 필터 + 검색 (CSV/API LANE 구조적 추천 + PDF/HTML LANE 설명 근거)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STEP 4 · SORT — 위험군별 정렬 (단계에 따라 등급·성취 가중치 변경)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STEP 5 · OUTPUT — 단계형 로드맵 (자격증 시퀀스) 출력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92608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DAG 기반 로드맵 — 실제 이동 가능한 경로만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0"/>
            <a:ext cx="11365992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추천 목록이 아니라 자격증 간 관계를 방향 그래프(DAG)로 순회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사용자 현재 위치에서 도달 가능한 자격증 경로만 제시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예) 5단계 → 4단계 → 3단계 → 2단계 → 1단계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  정보처리기능사 → 컴퓨터활용능력 2급 → 정보처리산업기사 → 정보처리기사 → 정보관리기술사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98348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RAG 파이프라인 — “왜 추천했는가”를 공식 문서로 답한다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440680"/>
            <a:ext cx="11365992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ea typeface="맑은 고딕"/>
                <a:cs typeface="맑은 고딕"/>
              </a:rPr>
              <a:t>질의 구성 ▶ 벡터 검색(pgvector) ▶ 스니펫 추출 ▶ LLM 조립 ▶ 응답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환각 방지: 근거 스니펫 외 정보로 일정·링크·수치 임의 생성 금지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근거 0건이면 “설명 근거 없음” 안내, 추천 자체는 실패 처리하지 않음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taxonomy 밖 라벨 응답 시 오류 간주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0584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사용자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463040"/>
            <a:ext cx="11365992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① 진단 화면 — 12문항 설문 응답 (관계망 4 / 노동·경제 4 / 심리·안전 4)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② 결과 화면 — 가중 점수 산출 → 위험군 5단계 진단 결과 표시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③ 입력 화면 — 관심 도메인 (Top 9 / Sub 44) / 관심 직무 선택 (선택)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④ 추천 화면 — 단계형 자격증 로드맵 (DAG 경로) + 추천 카드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⑤ 근거 화면 — 추천 카드별 RAG Evidence Snippet (공식 문서 출처·청킹 메타데이터)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38328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시스템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0"/>
            <a:ext cx="11365992" cy="2194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Frontend — React 19 + Vite 6 + TypeScript 5.7 + React Router 7 + lucide-react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   (Hosting: Netlify · https://www.didim.life)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Backend — FastAPI + Uvicorn + Pydantic + httpx + LangChain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   (Hosting: Render · vulnerable-groups-rag.onrender.com)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Data Store — PostgreSQL (Supabase) + pgvector (vector ANN) + Auth/Storage/RLS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Embedding — OpenAI text-embedding-3 / sentence-transformers (HuggingFace)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Ops — GitHub monorepo / UptimeRobot health ping (5min) / Swagger·OpenAPI /docs·/redoc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8076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55A0"/>
                </a:solidFill>
                <a:ea typeface="맑은 고딕"/>
                <a:cs typeface="맑은 고딕"/>
              </a:rPr>
              <a:t>■ 오프라인 빌드 (Hash-Incremental)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65992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cs typeface="맑은 고딕"/>
              </a:rPr>
              <a:t>① PDF/HTML LANE: Parse ▸ Chunk ▸ Metadata ▸ Embed → pgvector   ② CSV LANE: Schema ▸ Canonical ▸ Entity ▸ Candidate → PostgreSQL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68580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시장성 — 잠재 사용자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11365992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서울시 청년 표본 5,513명 기준 — 비고립군 5,027 + 고립군 486 (실태조사 2022)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위험군 5단계 전 구간 커버 — 1단계(취업 안정권)부터 5단계(최고위험군)까지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가치 극대화 지점 — Stage 3 (양 집단 접점) 에서 DAG 로드맵 추천 효용 극대화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51460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사업화 모델 — Web + QR 진입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71800"/>
            <a:ext cx="11365992" cy="1463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서비스 진입 — https://www.didim.life (모바일/PC 브라우저, QR 코드 즉시 접근)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B2G 연동 — 서울시 청년지원제도(자격증 수강료 지원, 상담) 웹과 연동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B2C 확장 — 자격증별 학습 콘텐츠(유튜브 등) 큐레이션·연결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데이터 자산화 — taxonomy + canonical row + RAG evidence index 재사용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2628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발전 가능성 + 기대효과 (USER · SOCIETY · OPS)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983480"/>
            <a:ext cx="11365992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USER  — 단계형 로드맵으로 진로 결정 비용 ↓ / RAG 근거로 “왜 이 자격증인가” 항상 설명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SOCIETY — 취약 청년의 노동 재진입 첫 발판 / 서울시 「실태조사」를 실제 서비스로 환원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OPS  — taxonomy + hash-incremental 빌드로 정합성·확장성 동시 확보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cs typeface="맑은 고딕"/>
              </a:rPr>
              <a:t>· Reserved — 시험 일정·접수·지원 링크 실시간 API 실연동 / Reranker / 상담형 대화 에이전트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68580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개발 툴 (Tech Stack)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11365992" cy="3200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ea typeface="맑은 고딕"/>
                <a:cs typeface="맑은 고딕"/>
              </a:rPr>
              <a:t>Frontend</a:t>
            </a:r>
          </a:p>
          <a:p>
            <a:pPr lvl="1"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cs typeface="맑은 고딕"/>
              </a:rPr>
              <a:t>· React 19 + Vite 6 / TypeScript 5.7 / React Router 7 / lucide-react</a:t>
            </a:r>
          </a:p>
          <a:p>
            <a:pPr lvl="1"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cs typeface="맑은 고딕"/>
              </a:rPr>
              <a:t>· Hosting: Netlify (https://www.didim.life)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ea typeface="맑은 고딕"/>
                <a:cs typeface="맑은 고딕"/>
              </a:rPr>
              <a:t>Backend</a:t>
            </a:r>
          </a:p>
          <a:p>
            <a:pPr lvl="1"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cs typeface="맑은 고딕"/>
              </a:rPr>
              <a:t>· FastAPI + Uvicorn + Pydantic + httpx / Python</a:t>
            </a:r>
          </a:p>
          <a:p>
            <a:pPr lvl="1"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cs typeface="맑은 고딕"/>
              </a:rPr>
              <a:t>· LangChain (RAG orchestration) / sentence-transformers</a:t>
            </a:r>
          </a:p>
          <a:p>
            <a:pPr lvl="1"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cs typeface="맑은 고딕"/>
              </a:rPr>
              <a:t>· Hosting: Render (vulnerable-groups-rag.onrender.com)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ea typeface="맑은 고딕"/>
                <a:cs typeface="맑은 고딕"/>
              </a:rPr>
              <a:t>Data &amp; Embedding</a:t>
            </a:r>
          </a:p>
          <a:p>
            <a:pPr lvl="1"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cs typeface="맑은 고딕"/>
              </a:rPr>
              <a:t>· PostgreSQL + pgvector (벡터 ANN 인덱스) on Supabase (Auth · Storage · RLS)</a:t>
            </a:r>
          </a:p>
          <a:p>
            <a:pPr lvl="1"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cs typeface="맑은 고딕"/>
              </a:rPr>
              <a:t>· Embedding API: OpenAI text-embedding-3 / HuggingFace sentence-transformers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ea typeface="맑은 고딕"/>
                <a:cs typeface="맑은 고딕"/>
              </a:rPr>
              <a:t>Ops</a:t>
            </a:r>
          </a:p>
          <a:p>
            <a:pPr lvl="1"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cs typeface="맑은 고딕"/>
              </a:rPr>
              <a:t>· GitHub monorepo · UptimeRobot (5분 health ping) · Swagger / OpenAPI (/docs · /redoc)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cs typeface="맑은 고딕"/>
              </a:rPr>
              <a:t>■ 참고 공공데이터 및 출처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26280"/>
            <a:ext cx="1136599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cs typeface="맑은 고딕"/>
              </a:rPr>
              <a:t>· 서울 열린데이터광장 — 서울시 「고립·은둔 청년 실태조사」(2022) / 발간: 서울특별시 미래청년기획단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cs typeface="맑은 고딕"/>
              </a:rPr>
              <a:t>· 서울 열린데이터광장 — 서울시 청년 통계지표 (인구·취업·교육) — 위험군 분포 검증·통계 비교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cs typeface="맑은 고딕"/>
              </a:rPr>
              <a:t>· 공공데이터포털 — 한국산업인력공단 「국가기술자격 종목별 취득 정보」 — 자격증 마스터·등급 입력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cs typeface="맑은 고딕"/>
              </a:rPr>
              <a:t>· Q-Net 자격증 API / 커리어넷 OPEN API (학과정보, 직업정보)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cs typeface="맑은 고딕"/>
              </a:rPr>
              <a:t>· 고용노동부 「취업에 유리한 자격증 따로 있다!」 / 한국고용정보원 「청년패널조사」 2022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55A0"/>
                </a:solidFill>
                <a:ea typeface="맑은 고딕"/>
                <a:cs typeface="맑은 고딕"/>
              </a:rPr>
              <a:t>■ TEAM 디딤 (DBMs)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63640"/>
            <a:ext cx="113659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ea typeface="맑은 고딕"/>
                <a:cs typeface="맑은 고딕"/>
              </a:rPr>
              <a:t>Product / Research · 제품 기획 · 위험군 통계 분석   |   Backend / RAG · FastAPI · LangChain · pgvector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ea typeface="맑은 고딕"/>
                <a:cs typeface="맑은 고딕"/>
              </a:rPr>
              <a:t>Frontend · React + Vite UI/UX   |   Data / Canonical · CSV canonicalization · taxonomy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표지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 algn="ctr">
          <a:solidFill>
            <a:schemeClr val="bg1">
              <a:lumMod val="65000"/>
            </a:schemeClr>
          </a:solidFill>
          <a:miter/>
        </a:ln>
        <a:effectLst>
          <a:outerShdw dist="25400" dir="2700000" algn="ctr" rotWithShape="0">
            <a:schemeClr val="bg1">
              <a:lumMod val="65000"/>
            </a:schemeClr>
          </a:outerShdw>
        </a:effectLst>
      </a:spPr>
      <a:bodyPr lIns="36000" tIns="46800" rIns="36000" bIns="46800" anchor="ctr"/>
      <a:lstStyle>
        <a:defPPr fontAlgn="auto" latinLnBrk="0">
          <a:spcBef>
            <a:spcPts val="0"/>
          </a:spcBef>
          <a:spcAft>
            <a:spcPts val="0"/>
          </a:spcAft>
          <a:defRPr sz="1200" kern="0">
            <a:solidFill>
              <a:sysClr val="windowText" lastClr="000000"/>
            </a:solidFill>
            <a:latin typeface="맑은 고딕"/>
          </a:defRPr>
        </a:defPPr>
      </a:lstStyle>
    </a:spDef>
    <a:lnDef>
      <a:spPr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</a:ln>
        <a:effectLst/>
      </a:spPr>
      <a:bodyPr/>
      <a:lstStyle/>
    </a:lnDef>
    <a:txDef>
      <a:spPr>
        <a:noFill/>
        <a:ln w="9525" algn="ctr">
          <a:noFill/>
          <a:miter/>
        </a:ln>
        <a:effectLst/>
      </a:spPr>
      <a:bodyPr>
        <a:spAutoFit/>
      </a:bodyPr>
      <a:lstStyle>
        <a:defPPr latinLnBrk="0">
          <a:lnSpc>
            <a:spcPct val="140000"/>
          </a:lnSpc>
          <a:spcBef>
            <a:spcPct val="0"/>
          </a:spcBef>
          <a:buFont typeface="Verdana"/>
          <a:buNone/>
          <a:defRPr sz="1100" dirty="0">
            <a:solidFill>
              <a:schemeClr val="tx1"/>
            </a:solidFill>
            <a:ea typeface="돋움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내지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85000"/>
            </a:schemeClr>
          </a:solidFill>
          <a:miter/>
        </a:ln>
        <a:effectLst/>
      </a:spPr>
      <a:bodyPr lIns="0" tIns="0" rIns="0" bIns="0" rtlCol="0" anchor="ctr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0" sz="800" b="0" i="0" u="none" strike="noStrike" kern="1200" cap="none" spc="0" normalizeH="0" baseline="0" noProof="0" dirty="0" smtClean="0">
            <a:ln>
              <a:noFill/>
            </a:ln>
            <a:solidFill>
              <a:srgbClr val="000000"/>
            </a:solidFill>
            <a:latin typeface="+mn-ea"/>
            <a:ea typeface="+mn-ea"/>
            <a:sym typeface="Gill Sans"/>
          </a:defRPr>
        </a:defPPr>
      </a:lstStyle>
    </a:spDef>
    <a:lnDef>
      <a:spPr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</a:ln>
        <a:effectLst/>
      </a:spPr>
      <a:bodyPr/>
      <a:lstStyle/>
    </a:lnDef>
    <a:txDef>
      <a:spPr>
        <a:noFill/>
        <a:ln w="9525" algn="ctr">
          <a:noFill/>
          <a:miter/>
        </a:ln>
        <a:effectLst/>
      </a:spPr>
      <a:bodyPr wrap="none" lIns="0" tIns="0" rIns="0" bIns="0" rtlCol="0">
        <a:spAutoFit/>
      </a:bodyPr>
      <a:lstStyle>
        <a:defPPr algn="l" latinLnBrk="0">
          <a:lnSpc>
            <a:spcPct val="140000"/>
          </a:lnSpc>
          <a:defRPr b="0" dirty="0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30670</TotalTime>
  <Words>1630</Words>
  <Application>Microsoft Macintosh PowerPoint</Application>
  <PresentationFormat>와이드스크린</PresentationFormat>
  <Paragraphs>135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맑은 고딕</vt:lpstr>
      <vt:lpstr>Arial</vt:lpstr>
      <vt:lpstr>Optima</vt:lpstr>
      <vt:lpstr>Times New Roman</vt:lpstr>
      <vt:lpstr>Wingdings</vt:lpstr>
      <vt:lpstr>1_표지</vt:lpstr>
      <vt:lpstr>2_내지1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YTJ</Manager>
  <Company>SAC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제목 없음</dc:title>
  <dc:subject>작성 표준 양식</dc:subject>
  <dc:creator>mano</dc:creator>
  <cp:lastModifiedBy>김동규</cp:lastModifiedBy>
  <cp:revision>23264</cp:revision>
  <cp:lastPrinted>2021-04-20T06:28:29Z</cp:lastPrinted>
  <dcterms:created xsi:type="dcterms:W3CDTF">2000-07-20T05:38:02Z</dcterms:created>
  <dcterms:modified xsi:type="dcterms:W3CDTF">2026-05-18T04:09:21Z</dcterms:modified>
</cp:coreProperties>
</file>