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50F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57200"/>
            <a:ext cx="9144000" cy="0"/>
          </a:xfrm>
          <a:prstGeom prst="line">
            <a:avLst/>
          </a:prstGeom>
          <a:noFill/>
          <a:ln w="6350">
            <a:solidFill>
              <a:srgbClr val="0D1E3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280160"/>
            <a:ext cx="9144000" cy="0"/>
          </a:xfrm>
          <a:prstGeom prst="line">
            <a:avLst/>
          </a:prstGeom>
          <a:noFill/>
          <a:ln w="6350">
            <a:solidFill>
              <a:srgbClr val="0D1E3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2103120"/>
            <a:ext cx="9144000" cy="0"/>
          </a:xfrm>
          <a:prstGeom prst="line">
            <a:avLst/>
          </a:prstGeom>
          <a:noFill/>
          <a:ln w="6350">
            <a:solidFill>
              <a:srgbClr val="0D1E3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2926080"/>
            <a:ext cx="9144000" cy="0"/>
          </a:xfrm>
          <a:prstGeom prst="line">
            <a:avLst/>
          </a:prstGeom>
          <a:noFill/>
          <a:ln w="6350">
            <a:solidFill>
              <a:srgbClr val="0D1E3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3749040"/>
            <a:ext cx="9144000" cy="0"/>
          </a:xfrm>
          <a:prstGeom prst="line">
            <a:avLst/>
          </a:prstGeom>
          <a:noFill/>
          <a:ln w="6350">
            <a:solidFill>
              <a:srgbClr val="0D1E3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4572000"/>
            <a:ext cx="9144000" cy="0"/>
          </a:xfrm>
          <a:prstGeom prst="line">
            <a:avLst/>
          </a:prstGeom>
          <a:noFill/>
          <a:ln w="6350">
            <a:solidFill>
              <a:srgbClr val="0D1E3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0" y="0"/>
            <a:ext cx="0" cy="5143500"/>
          </a:xfrm>
          <a:prstGeom prst="line">
            <a:avLst/>
          </a:prstGeom>
          <a:noFill/>
          <a:ln w="6350">
            <a:solidFill>
              <a:srgbClr val="0D1E3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14400" y="0"/>
            <a:ext cx="0" cy="5143500"/>
          </a:xfrm>
          <a:prstGeom prst="line">
            <a:avLst/>
          </a:prstGeom>
          <a:noFill/>
          <a:ln w="6350">
            <a:solidFill>
              <a:srgbClr val="0D1E3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828800" y="0"/>
            <a:ext cx="0" cy="5143500"/>
          </a:xfrm>
          <a:prstGeom prst="line">
            <a:avLst/>
          </a:prstGeom>
          <a:noFill/>
          <a:ln w="6350">
            <a:solidFill>
              <a:srgbClr val="0D1E3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743200" y="0"/>
            <a:ext cx="0" cy="5143500"/>
          </a:xfrm>
          <a:prstGeom prst="line">
            <a:avLst/>
          </a:prstGeom>
          <a:noFill/>
          <a:ln w="6350">
            <a:solidFill>
              <a:srgbClr val="0D1E3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657600" y="0"/>
            <a:ext cx="0" cy="5143500"/>
          </a:xfrm>
          <a:prstGeom prst="line">
            <a:avLst/>
          </a:prstGeom>
          <a:noFill/>
          <a:ln w="6350">
            <a:solidFill>
              <a:srgbClr val="0D1E3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0" y="0"/>
            <a:ext cx="0" cy="5143500"/>
          </a:xfrm>
          <a:prstGeom prst="line">
            <a:avLst/>
          </a:prstGeom>
          <a:noFill/>
          <a:ln w="6350">
            <a:solidFill>
              <a:srgbClr val="0D1E3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486400" y="0"/>
            <a:ext cx="0" cy="5143500"/>
          </a:xfrm>
          <a:prstGeom prst="line">
            <a:avLst/>
          </a:prstGeom>
          <a:noFill/>
          <a:ln w="6350">
            <a:solidFill>
              <a:srgbClr val="0D1E3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400800" y="0"/>
            <a:ext cx="0" cy="5143500"/>
          </a:xfrm>
          <a:prstGeom prst="line">
            <a:avLst/>
          </a:prstGeom>
          <a:noFill/>
          <a:ln w="6350">
            <a:solidFill>
              <a:srgbClr val="0D1E3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315200" y="0"/>
            <a:ext cx="0" cy="5143500"/>
          </a:xfrm>
          <a:prstGeom prst="line">
            <a:avLst/>
          </a:prstGeom>
          <a:noFill/>
          <a:ln w="6350">
            <a:solidFill>
              <a:srgbClr val="0D1E3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229600" y="0"/>
            <a:ext cx="0" cy="5143500"/>
          </a:xfrm>
          <a:prstGeom prst="line">
            <a:avLst/>
          </a:prstGeom>
          <a:noFill/>
          <a:ln w="6350">
            <a:solidFill>
              <a:srgbClr val="0D1E3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144000" y="0"/>
            <a:ext cx="0" cy="5143500"/>
          </a:xfrm>
          <a:prstGeom prst="line">
            <a:avLst/>
          </a:prstGeom>
          <a:noFill/>
          <a:ln w="6350">
            <a:solidFill>
              <a:srgbClr val="0D1E3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4F7CF8"/>
          </a:solidFill>
          <a:ln/>
        </p:spPr>
      </p:sp>
      <p:sp>
        <p:nvSpPr>
          <p:cNvPr id="20" name="Shape 18"/>
          <p:cNvSpPr/>
          <p:nvPr/>
        </p:nvSpPr>
        <p:spPr>
          <a:xfrm>
            <a:off x="5303520" y="0"/>
            <a:ext cx="3840480" cy="514350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21" name="Shape 19"/>
          <p:cNvSpPr/>
          <p:nvPr/>
        </p:nvSpPr>
        <p:spPr>
          <a:xfrm>
            <a:off x="5486400" y="457200"/>
            <a:ext cx="3383280" cy="4206240"/>
          </a:xfrm>
          <a:prstGeom prst="rect">
            <a:avLst/>
          </a:prstGeom>
          <a:solidFill>
            <a:srgbClr val="1A2E50"/>
          </a:solidFill>
          <a:ln w="19050">
            <a:solidFill>
              <a:srgbClr val="2A4070"/>
            </a:solidFill>
            <a:prstDash val="dash"/>
          </a:ln>
        </p:spPr>
      </p:sp>
      <p:sp>
        <p:nvSpPr>
          <p:cNvPr id="22" name="Text 20"/>
          <p:cNvSpPr/>
          <p:nvPr/>
        </p:nvSpPr>
        <p:spPr>
          <a:xfrm>
            <a:off x="5486400" y="233172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F7CF8"/>
                </a:solidFill>
              </a:rPr>
              <a:t>[이미지]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5486400" y="260604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82A8"/>
                </a:solidFill>
              </a:rPr>
              <a:t>서비스 전체 UI 개요 스크린샷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457200" y="50292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4F7CF8"/>
                </a:solidFill>
              </a:rPr>
              <a:t>HCI / UX Design Analysis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57200" y="868680"/>
            <a:ext cx="4572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CertFinder</a:t>
            </a:r>
            <a:endParaRPr lang="en-US" sz="4200" dirty="0"/>
          </a:p>
        </p:txBody>
      </p:sp>
      <p:sp>
        <p:nvSpPr>
          <p:cNvPr id="26" name="Text 24"/>
          <p:cNvSpPr/>
          <p:nvPr/>
        </p:nvSpPr>
        <p:spPr>
          <a:xfrm>
            <a:off x="457200" y="1645920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FFFFFF"/>
                </a:solidFill>
              </a:rPr>
              <a:t>UI / UX 개선 분석</a:t>
            </a:r>
            <a:endParaRPr lang="en-US" sz="3000" dirty="0"/>
          </a:p>
        </p:txBody>
      </p:sp>
      <p:sp>
        <p:nvSpPr>
          <p:cNvPr id="27" name="Shape 25"/>
          <p:cNvSpPr/>
          <p:nvPr/>
        </p:nvSpPr>
        <p:spPr>
          <a:xfrm>
            <a:off x="457200" y="2377440"/>
            <a:ext cx="2286000" cy="0"/>
          </a:xfrm>
          <a:prstGeom prst="line">
            <a:avLst/>
          </a:prstGeom>
          <a:noFill/>
          <a:ln w="25400">
            <a:solidFill>
              <a:srgbClr val="4F7CF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57200" y="2542032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B9BB4"/>
                </a:solidFill>
              </a:rPr>
              <a:t>인간공학적 관점의 Before / After 설계 검토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457200" y="2971800"/>
            <a:ext cx="1645920" cy="292608"/>
          </a:xfrm>
          <a:prstGeom prst="rect">
            <a:avLst/>
          </a:prstGeom>
          <a:solidFill>
            <a:srgbClr val="1E3460"/>
          </a:solidFill>
          <a:ln w="10160">
            <a:solidFill>
              <a:srgbClr val="4F7CF8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5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457200" y="2971800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4F7CF8"/>
                </a:solidFill>
              </a:rPr>
              <a:t>Nielsen's 10 Heuristics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2240280" y="2971800"/>
            <a:ext cx="1645920" cy="292608"/>
          </a:xfrm>
          <a:prstGeom prst="rect">
            <a:avLst/>
          </a:prstGeom>
          <a:solidFill>
            <a:srgbClr val="1E3460"/>
          </a:solidFill>
          <a:ln w="10160">
            <a:solidFill>
              <a:srgbClr val="4F7CF8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5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2240280" y="2971800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4F7CF8"/>
                </a:solidFill>
              </a:rPr>
              <a:t>ISO 9241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4023360" y="2971800"/>
            <a:ext cx="1645920" cy="292608"/>
          </a:xfrm>
          <a:prstGeom prst="rect">
            <a:avLst/>
          </a:prstGeom>
          <a:solidFill>
            <a:srgbClr val="1E3460"/>
          </a:solidFill>
          <a:ln w="10160">
            <a:solidFill>
              <a:srgbClr val="4F7CF8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5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4023360" y="2971800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4F7CF8"/>
                </a:solidFill>
              </a:rPr>
              <a:t>Kansei Engineering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30A18"/>
          </a:solidFill>
          <a:ln/>
        </p:spPr>
      </p:sp>
      <p:sp>
        <p:nvSpPr>
          <p:cNvPr id="36" name="Text 34"/>
          <p:cNvSpPr/>
          <p:nvPr/>
        </p:nvSpPr>
        <p:spPr>
          <a:xfrm>
            <a:off x="457200" y="477316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3D5480"/>
                </a:solidFill>
              </a:rPr>
              <a:t>청년 위험군 자격증 추천 시스템 — 인간컴퓨터 상호작용 기말 발표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50F24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13716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적용된 HCI 설계 원칙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02920" y="59436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8B9BB4"/>
                </a:solidFill>
              </a:rPr>
              <a:t>Nielsen's Heuristics  ·  ISO 9241  ·  감성공학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11480" y="1097280"/>
            <a:ext cx="3840480" cy="3566160"/>
          </a:xfrm>
          <a:prstGeom prst="rect">
            <a:avLst/>
          </a:prstGeom>
          <a:solidFill>
            <a:srgbClr val="E8EEFF"/>
          </a:solidFill>
          <a:ln w="12700">
            <a:solidFill>
              <a:srgbClr val="C5D3F0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11480" y="1097280"/>
            <a:ext cx="3840480" cy="384048"/>
          </a:xfrm>
          <a:prstGeom prst="rect">
            <a:avLst/>
          </a:prstGeom>
          <a:solidFill>
            <a:srgbClr val="4F7CF8"/>
          </a:solidFill>
          <a:ln/>
        </p:spPr>
      </p:sp>
      <p:sp>
        <p:nvSpPr>
          <p:cNvPr id="7" name="Text 5"/>
          <p:cNvSpPr/>
          <p:nvPr/>
        </p:nvSpPr>
        <p:spPr>
          <a:xfrm>
            <a:off x="502920" y="1097280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ISO 9241  사용성 3대 요소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48640" y="1627632"/>
            <a:ext cx="384048" cy="384048"/>
          </a:xfrm>
          <a:prstGeom prst="oval">
            <a:avLst/>
          </a:prstGeom>
          <a:solidFill>
            <a:srgbClr val="0891B2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16276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✔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51560" y="1627632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2540"/>
                </a:solidFill>
              </a:rPr>
              <a:t>효과성 (Effectiveness)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1051560" y="1856232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D5480"/>
                </a:solidFill>
              </a:rPr>
              <a:t>사용자가 목표(자격증 탐색·추천 수령)를 정확히 달성할 수 있는가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548640" y="2633472"/>
            <a:ext cx="384048" cy="384048"/>
          </a:xfrm>
          <a:prstGeom prst="oval">
            <a:avLst/>
          </a:prstGeom>
          <a:solidFill>
            <a:srgbClr val="7C3AED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26334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⚡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051560" y="2633472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2540"/>
                </a:solidFill>
              </a:rPr>
              <a:t>효율성 (Efficiency)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1051560" y="2862072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D5480"/>
                </a:solidFill>
              </a:rPr>
              <a:t>최소 단계로 원하는 자격증 정보에 도달하는가 — 직무 선택 → AI 추천 → 상세 2-click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548640" y="3639312"/>
            <a:ext cx="384048" cy="384048"/>
          </a:xfrm>
          <a:prstGeom prst="oval">
            <a:avLst/>
          </a:prstGeom>
          <a:solidFill>
            <a:srgbClr val="D97706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36393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★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051560" y="3639312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2540"/>
                </a:solidFill>
              </a:rPr>
              <a:t>만족도 (Satisfaction)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1051560" y="3867912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D5480"/>
                </a:solidFill>
              </a:rPr>
              <a:t>Dark-theme + 안정성 점수 시각화로 긍정적 감성 경험 제공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4892040" y="1097280"/>
            <a:ext cx="3840480" cy="3566160"/>
          </a:xfrm>
          <a:prstGeom prst="rect">
            <a:avLst/>
          </a:prstGeom>
          <a:solidFill>
            <a:srgbClr val="F5F7FF"/>
          </a:solidFill>
          <a:ln w="12700">
            <a:solidFill>
              <a:srgbClr val="C5D3F0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892040" y="1097280"/>
            <a:ext cx="3840480" cy="384048"/>
          </a:xfrm>
          <a:prstGeom prst="rect">
            <a:avLst/>
          </a:prstGeom>
          <a:solidFill>
            <a:srgbClr val="1A2540"/>
          </a:solidFill>
          <a:ln/>
        </p:spPr>
      </p:sp>
      <p:sp>
        <p:nvSpPr>
          <p:cNvPr id="22" name="Text 20"/>
          <p:cNvSpPr/>
          <p:nvPr/>
        </p:nvSpPr>
        <p:spPr>
          <a:xfrm>
            <a:off x="4983480" y="1097280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Nielsen's Heuristics  (주요 적용)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983480" y="1572768"/>
            <a:ext cx="347472" cy="237744"/>
          </a:xfrm>
          <a:prstGeom prst="rect">
            <a:avLst/>
          </a:prstGeom>
          <a:solidFill>
            <a:srgbClr val="4F7CF8"/>
          </a:solidFill>
          <a:ln/>
        </p:spPr>
      </p:sp>
      <p:sp>
        <p:nvSpPr>
          <p:cNvPr id="24" name="Text 22"/>
          <p:cNvSpPr/>
          <p:nvPr/>
        </p:nvSpPr>
        <p:spPr>
          <a:xfrm>
            <a:off x="4983480" y="1572768"/>
            <a:ext cx="347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#1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5394960" y="1572768"/>
            <a:ext cx="3154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2540"/>
                </a:solidFill>
              </a:rPr>
              <a:t>시스템 상태 가시성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5394960" y="1819656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D6080"/>
                </a:solidFill>
              </a:rPr>
              <a:t>합격률 · 안정성 점수 · 배지로 현황 즉시 파악</a:t>
            </a:r>
            <a:endParaRPr lang="en-US" sz="750" dirty="0"/>
          </a:p>
        </p:txBody>
      </p:sp>
      <p:sp>
        <p:nvSpPr>
          <p:cNvPr id="27" name="Shape 25"/>
          <p:cNvSpPr/>
          <p:nvPr/>
        </p:nvSpPr>
        <p:spPr>
          <a:xfrm>
            <a:off x="4983480" y="2157984"/>
            <a:ext cx="347472" cy="237744"/>
          </a:xfrm>
          <a:prstGeom prst="rect">
            <a:avLst/>
          </a:prstGeom>
          <a:solidFill>
            <a:srgbClr val="4F7CF8"/>
          </a:solidFill>
          <a:ln/>
        </p:spPr>
      </p:sp>
      <p:sp>
        <p:nvSpPr>
          <p:cNvPr id="28" name="Text 26"/>
          <p:cNvSpPr/>
          <p:nvPr/>
        </p:nvSpPr>
        <p:spPr>
          <a:xfrm>
            <a:off x="4983480" y="2157984"/>
            <a:ext cx="347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#3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5394960" y="2157984"/>
            <a:ext cx="3154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2540"/>
                </a:solidFill>
              </a:rPr>
              <a:t>사용자 제어 &amp; 자유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5394960" y="2404872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D6080"/>
                </a:solidFill>
              </a:rPr>
              <a:t>관심 자격증 즐겨찾기, 뒤로가기 네비게이션</a:t>
            </a:r>
            <a:endParaRPr lang="en-US" sz="750" dirty="0"/>
          </a:p>
        </p:txBody>
      </p:sp>
      <p:sp>
        <p:nvSpPr>
          <p:cNvPr id="31" name="Shape 29"/>
          <p:cNvSpPr/>
          <p:nvPr/>
        </p:nvSpPr>
        <p:spPr>
          <a:xfrm>
            <a:off x="4983480" y="2743200"/>
            <a:ext cx="347472" cy="237744"/>
          </a:xfrm>
          <a:prstGeom prst="rect">
            <a:avLst/>
          </a:prstGeom>
          <a:solidFill>
            <a:srgbClr val="4F7CF8"/>
          </a:solidFill>
          <a:ln/>
        </p:spPr>
      </p:sp>
      <p:sp>
        <p:nvSpPr>
          <p:cNvPr id="32" name="Text 30"/>
          <p:cNvSpPr/>
          <p:nvPr/>
        </p:nvSpPr>
        <p:spPr>
          <a:xfrm>
            <a:off x="4983480" y="2743200"/>
            <a:ext cx="347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#4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5394960" y="2743200"/>
            <a:ext cx="3154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2540"/>
                </a:solidFill>
              </a:rPr>
              <a:t>일관성 &amp; 표준 준수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5394960" y="2990088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D6080"/>
                </a:solidFill>
              </a:rPr>
              <a:t>동일 태그 분류 체계, 통일된 카드 컴포넌트</a:t>
            </a:r>
            <a:endParaRPr lang="en-US" sz="750" dirty="0"/>
          </a:p>
        </p:txBody>
      </p:sp>
      <p:sp>
        <p:nvSpPr>
          <p:cNvPr id="35" name="Shape 33"/>
          <p:cNvSpPr/>
          <p:nvPr/>
        </p:nvSpPr>
        <p:spPr>
          <a:xfrm>
            <a:off x="4983480" y="3328416"/>
            <a:ext cx="347472" cy="237744"/>
          </a:xfrm>
          <a:prstGeom prst="rect">
            <a:avLst/>
          </a:prstGeom>
          <a:solidFill>
            <a:srgbClr val="4F7CF8"/>
          </a:solidFill>
          <a:ln/>
        </p:spPr>
      </p:sp>
      <p:sp>
        <p:nvSpPr>
          <p:cNvPr id="36" name="Text 34"/>
          <p:cNvSpPr/>
          <p:nvPr/>
        </p:nvSpPr>
        <p:spPr>
          <a:xfrm>
            <a:off x="4983480" y="3328416"/>
            <a:ext cx="347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#6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5394960" y="3328416"/>
            <a:ext cx="3154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2540"/>
                </a:solidFill>
              </a:rPr>
              <a:t>인식 &gt; 기억 (Recognition)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5394960" y="3575304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D6080"/>
                </a:solidFill>
              </a:rPr>
              <a:t>태그·아이콘 기반 탐색 — 사용자가 기억 없이 스캔 가능</a:t>
            </a:r>
            <a:endParaRPr lang="en-US" sz="750" dirty="0"/>
          </a:p>
        </p:txBody>
      </p:sp>
      <p:sp>
        <p:nvSpPr>
          <p:cNvPr id="39" name="Shape 37"/>
          <p:cNvSpPr/>
          <p:nvPr/>
        </p:nvSpPr>
        <p:spPr>
          <a:xfrm>
            <a:off x="4983480" y="3913632"/>
            <a:ext cx="347472" cy="237744"/>
          </a:xfrm>
          <a:prstGeom prst="rect">
            <a:avLst/>
          </a:prstGeom>
          <a:solidFill>
            <a:srgbClr val="4F7CF8"/>
          </a:solidFill>
          <a:ln/>
        </p:spPr>
      </p:sp>
      <p:sp>
        <p:nvSpPr>
          <p:cNvPr id="40" name="Text 38"/>
          <p:cNvSpPr/>
          <p:nvPr/>
        </p:nvSpPr>
        <p:spPr>
          <a:xfrm>
            <a:off x="4983480" y="3913632"/>
            <a:ext cx="347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#8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5394960" y="3913632"/>
            <a:ext cx="3154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2540"/>
                </a:solidFill>
              </a:rPr>
              <a:t>미학적 &amp; 최소주의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5394960" y="4160520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D6080"/>
                </a:solidFill>
              </a:rPr>
              <a:t>핵심 정보만 노출, 다크 테마로 시각 노이즈 최소화</a:t>
            </a:r>
            <a:endParaRPr lang="en-US" sz="750" dirty="0"/>
          </a:p>
        </p:txBody>
      </p:sp>
      <p:sp>
        <p:nvSpPr>
          <p:cNvPr id="43" name="Shape 41"/>
          <p:cNvSpPr/>
          <p:nvPr/>
        </p:nvSpPr>
        <p:spPr>
          <a:xfrm>
            <a:off x="0" y="4773168"/>
            <a:ext cx="9144000" cy="365760"/>
          </a:xfrm>
          <a:prstGeom prst="rect">
            <a:avLst/>
          </a:prstGeom>
          <a:solidFill>
            <a:srgbClr val="E8EEFF"/>
          </a:solidFill>
          <a:ln/>
        </p:spPr>
      </p:sp>
      <p:sp>
        <p:nvSpPr>
          <p:cNvPr id="44" name="Text 42"/>
          <p:cNvSpPr/>
          <p:nvPr/>
        </p:nvSpPr>
        <p:spPr>
          <a:xfrm>
            <a:off x="457200" y="4791456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090B0"/>
                </a:solidFill>
              </a:rPr>
              <a:t>CertFinder UI/UX 개선 분석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8412480" y="4791456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090B0"/>
                </a:solidFill>
              </a:rPr>
              <a:t>2 / 5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50F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030A1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5720"/>
            <a:ext cx="7315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Before / After  ①  정보 구조 &amp; 가시성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47548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50" kern="0" dirty="0">
                <a:solidFill>
                  <a:srgbClr val="8B9BB4"/>
                </a:solidFill>
              </a:rPr>
              <a:t>정보 계층화 · 스캔 가능성 · 시스템 상태 가시성 (Nielsen #1, #6, #8)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274320" y="914400"/>
            <a:ext cx="3977640" cy="3886200"/>
          </a:xfrm>
          <a:prstGeom prst="rect">
            <a:avLst/>
          </a:prstGeom>
          <a:solidFill>
            <a:srgbClr val="0D1B35"/>
          </a:solidFill>
          <a:ln w="19050">
            <a:solidFill>
              <a:srgbClr val="FF5C5C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914400"/>
            <a:ext cx="3977640" cy="365760"/>
          </a:xfrm>
          <a:prstGeom prst="rect">
            <a:avLst/>
          </a:prstGeom>
          <a:solidFill>
            <a:srgbClr val="7A1A1A"/>
          </a:solidFill>
          <a:ln/>
        </p:spPr>
      </p:sp>
      <p:sp>
        <p:nvSpPr>
          <p:cNvPr id="7" name="Text 5"/>
          <p:cNvSpPr/>
          <p:nvPr/>
        </p:nvSpPr>
        <p:spPr>
          <a:xfrm>
            <a:off x="365760" y="914400"/>
            <a:ext cx="3794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8080"/>
                </a:solidFill>
              </a:rPr>
              <a:t>✗  BEFORE  (기존)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11480" y="1389888"/>
            <a:ext cx="3703320" cy="1554480"/>
          </a:xfrm>
          <a:prstGeom prst="rect">
            <a:avLst/>
          </a:prstGeom>
          <a:solidFill>
            <a:srgbClr val="1A2E50"/>
          </a:solidFill>
          <a:ln w="19050">
            <a:solidFill>
              <a:srgbClr val="2A4070"/>
            </a:solidFill>
            <a:prstDash val="dash"/>
          </a:ln>
        </p:spPr>
      </p:sp>
      <p:sp>
        <p:nvSpPr>
          <p:cNvPr id="9" name="Text 7"/>
          <p:cNvSpPr/>
          <p:nvPr/>
        </p:nvSpPr>
        <p:spPr>
          <a:xfrm>
            <a:off x="411480" y="1938528"/>
            <a:ext cx="3703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F7CF8"/>
                </a:solidFill>
              </a:rPr>
              <a:t>[이미지]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11480" y="2212848"/>
            <a:ext cx="3703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82A8"/>
                </a:solidFill>
              </a:rPr>
              <a:t>Q-Net / 기존 화면 스크린샷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384048" y="3127248"/>
            <a:ext cx="201168" cy="201168"/>
          </a:xfrm>
          <a:prstGeom prst="oval">
            <a:avLst/>
          </a:prstGeom>
          <a:solidFill>
            <a:srgbClr val="7A1A1A"/>
          </a:solidFill>
          <a:ln/>
        </p:spPr>
      </p:sp>
      <p:sp>
        <p:nvSpPr>
          <p:cNvPr id="12" name="Text 10"/>
          <p:cNvSpPr/>
          <p:nvPr/>
        </p:nvSpPr>
        <p:spPr>
          <a:xfrm>
            <a:off x="384048" y="3127248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5C5C"/>
                </a:solidFill>
              </a:rPr>
              <a:t>✗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658368" y="3090672"/>
            <a:ext cx="3429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0CBDE"/>
                </a:solidFill>
              </a:rPr>
              <a:t>단순 텍스트 나열 — 시각적 계층 없음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84048" y="3529584"/>
            <a:ext cx="201168" cy="201168"/>
          </a:xfrm>
          <a:prstGeom prst="oval">
            <a:avLst/>
          </a:prstGeom>
          <a:solidFill>
            <a:srgbClr val="7A1A1A"/>
          </a:solidFill>
          <a:ln/>
        </p:spPr>
      </p:sp>
      <p:sp>
        <p:nvSpPr>
          <p:cNvPr id="15" name="Text 13"/>
          <p:cNvSpPr/>
          <p:nvPr/>
        </p:nvSpPr>
        <p:spPr>
          <a:xfrm>
            <a:off x="384048" y="3529584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5C5C"/>
                </a:solidFill>
              </a:rPr>
              <a:t>✗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658368" y="3493008"/>
            <a:ext cx="3429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0CBDE"/>
                </a:solidFill>
              </a:rPr>
              <a:t>합격률을 '숫자'로만 제공, 맥락 없음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384048" y="3931920"/>
            <a:ext cx="201168" cy="201168"/>
          </a:xfrm>
          <a:prstGeom prst="oval">
            <a:avLst/>
          </a:prstGeom>
          <a:solidFill>
            <a:srgbClr val="7A1A1A"/>
          </a:solidFill>
          <a:ln/>
        </p:spPr>
      </p:sp>
      <p:sp>
        <p:nvSpPr>
          <p:cNvPr id="18" name="Text 16"/>
          <p:cNvSpPr/>
          <p:nvPr/>
        </p:nvSpPr>
        <p:spPr>
          <a:xfrm>
            <a:off x="384048" y="3931920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5C5C"/>
                </a:solidFill>
              </a:rPr>
              <a:t>✗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658368" y="3895344"/>
            <a:ext cx="3429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0CBDE"/>
                </a:solidFill>
              </a:rPr>
              <a:t>페이지 이동 多 — 정보 분산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384048" y="4334256"/>
            <a:ext cx="201168" cy="201168"/>
          </a:xfrm>
          <a:prstGeom prst="oval">
            <a:avLst/>
          </a:prstGeom>
          <a:solidFill>
            <a:srgbClr val="7A1A1A"/>
          </a:solidFill>
          <a:ln/>
        </p:spPr>
      </p:sp>
      <p:sp>
        <p:nvSpPr>
          <p:cNvPr id="21" name="Text 19"/>
          <p:cNvSpPr/>
          <p:nvPr/>
        </p:nvSpPr>
        <p:spPr>
          <a:xfrm>
            <a:off x="384048" y="4334256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5C5C"/>
                </a:solidFill>
              </a:rPr>
              <a:t>✗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658368" y="4297680"/>
            <a:ext cx="3429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0CBDE"/>
                </a:solidFill>
              </a:rPr>
              <a:t>개인화 없음, 모든 사용자 동일 화면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892040" y="914400"/>
            <a:ext cx="3977640" cy="3886200"/>
          </a:xfrm>
          <a:prstGeom prst="rect">
            <a:avLst/>
          </a:prstGeom>
          <a:solidFill>
            <a:srgbClr val="0D1B35"/>
          </a:solidFill>
          <a:ln w="19050">
            <a:solidFill>
              <a:srgbClr val="34D399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5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892040" y="914400"/>
            <a:ext cx="3977640" cy="365760"/>
          </a:xfrm>
          <a:prstGeom prst="rect">
            <a:avLst/>
          </a:prstGeom>
          <a:solidFill>
            <a:srgbClr val="0A3A28"/>
          </a:solidFill>
          <a:ln/>
        </p:spPr>
      </p:sp>
      <p:sp>
        <p:nvSpPr>
          <p:cNvPr id="25" name="Text 23"/>
          <p:cNvSpPr/>
          <p:nvPr/>
        </p:nvSpPr>
        <p:spPr>
          <a:xfrm>
            <a:off x="4983480" y="914400"/>
            <a:ext cx="3794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4D399"/>
                </a:solidFill>
              </a:rPr>
              <a:t>✓  AFTER  (CertFinder)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029200" y="1389888"/>
            <a:ext cx="3703320" cy="1554480"/>
          </a:xfrm>
          <a:prstGeom prst="rect">
            <a:avLst/>
          </a:prstGeom>
          <a:solidFill>
            <a:srgbClr val="1A2E50"/>
          </a:solidFill>
          <a:ln w="19050">
            <a:solidFill>
              <a:srgbClr val="2A4070"/>
            </a:solidFill>
            <a:prstDash val="dash"/>
          </a:ln>
        </p:spPr>
      </p:sp>
      <p:sp>
        <p:nvSpPr>
          <p:cNvPr id="27" name="Text 25"/>
          <p:cNvSpPr/>
          <p:nvPr/>
        </p:nvSpPr>
        <p:spPr>
          <a:xfrm>
            <a:off x="5029200" y="1938528"/>
            <a:ext cx="3703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F7CF8"/>
                </a:solidFill>
              </a:rPr>
              <a:t>[이미지]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5029200" y="2212848"/>
            <a:ext cx="3703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82A8"/>
                </a:solidFill>
              </a:rPr>
              <a:t>CertFinder 자격증 상세 페이지 스크린샷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4956048" y="3127248"/>
            <a:ext cx="201168" cy="201168"/>
          </a:xfrm>
          <a:prstGeom prst="oval">
            <a:avLst/>
          </a:prstGeom>
          <a:solidFill>
            <a:srgbClr val="0A3A28"/>
          </a:solidFill>
          <a:ln/>
        </p:spPr>
      </p:sp>
      <p:sp>
        <p:nvSpPr>
          <p:cNvPr id="30" name="Text 28"/>
          <p:cNvSpPr/>
          <p:nvPr/>
        </p:nvSpPr>
        <p:spPr>
          <a:xfrm>
            <a:off x="4956048" y="3127248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4D399"/>
                </a:solidFill>
              </a:rPr>
              <a:t>✓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5230368" y="3090672"/>
            <a:ext cx="3429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0CBDE"/>
                </a:solidFill>
              </a:rPr>
              <a:t>태그(국가기술자격 · 시행중) 즉시 분류 가능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4956048" y="3529584"/>
            <a:ext cx="201168" cy="201168"/>
          </a:xfrm>
          <a:prstGeom prst="oval">
            <a:avLst/>
          </a:prstGeom>
          <a:solidFill>
            <a:srgbClr val="0A3A28"/>
          </a:solidFill>
          <a:ln/>
        </p:spPr>
      </p:sp>
      <p:sp>
        <p:nvSpPr>
          <p:cNvPr id="33" name="Text 31"/>
          <p:cNvSpPr/>
          <p:nvPr/>
        </p:nvSpPr>
        <p:spPr>
          <a:xfrm>
            <a:off x="4956048" y="3529584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4D399"/>
                </a:solidFill>
              </a:rPr>
              <a:t>✓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5230368" y="3493008"/>
            <a:ext cx="3429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0CBDE"/>
                </a:solidFill>
              </a:rPr>
              <a:t>안정성 점수 88/100 + 합격률 시각화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4956048" y="3931920"/>
            <a:ext cx="201168" cy="201168"/>
          </a:xfrm>
          <a:prstGeom prst="oval">
            <a:avLst/>
          </a:prstGeom>
          <a:solidFill>
            <a:srgbClr val="0A3A28"/>
          </a:solidFill>
          <a:ln/>
        </p:spPr>
      </p:sp>
      <p:sp>
        <p:nvSpPr>
          <p:cNvPr id="36" name="Text 34"/>
          <p:cNvSpPr/>
          <p:nvPr/>
        </p:nvSpPr>
        <p:spPr>
          <a:xfrm>
            <a:off x="4956048" y="3931920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4D399"/>
                </a:solidFill>
              </a:rPr>
              <a:t>✓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5230368" y="3895344"/>
            <a:ext cx="3429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0CBDE"/>
                </a:solidFill>
              </a:rPr>
              <a:t>단일 페이지에 핵심 정보 통합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4956048" y="4334256"/>
            <a:ext cx="201168" cy="201168"/>
          </a:xfrm>
          <a:prstGeom prst="oval">
            <a:avLst/>
          </a:prstGeom>
          <a:solidFill>
            <a:srgbClr val="0A3A28"/>
          </a:solidFill>
          <a:ln/>
        </p:spPr>
      </p:sp>
      <p:sp>
        <p:nvSpPr>
          <p:cNvPr id="39" name="Text 37"/>
          <p:cNvSpPr/>
          <p:nvPr/>
        </p:nvSpPr>
        <p:spPr>
          <a:xfrm>
            <a:off x="4956048" y="4334256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4D399"/>
                </a:solidFill>
              </a:rPr>
              <a:t>✓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5230368" y="4297680"/>
            <a:ext cx="3429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0CBDE"/>
                </a:solidFill>
              </a:rPr>
              <a:t>직무/위험군 기반 개인화 레이아웃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4315968" y="2468880"/>
            <a:ext cx="512064" cy="512064"/>
          </a:xfrm>
          <a:prstGeom prst="oval">
            <a:avLst/>
          </a:prstGeom>
          <a:solidFill>
            <a:srgbClr val="4F7CF8"/>
          </a:solidFill>
          <a:ln/>
          <a:effectLst>
            <a:outerShdw sx="100000" sy="100000" kx="0" ky="0" algn="bl" rotWithShape="0" blurRad="152400" dist="50800" dir="8100000">
              <a:srgbClr val="000000">
                <a:alpha val="25000"/>
              </a:srgbClr>
            </a:outerShdw>
          </a:effectLst>
        </p:spPr>
      </p:sp>
      <p:sp>
        <p:nvSpPr>
          <p:cNvPr id="42" name="Text 40"/>
          <p:cNvSpPr/>
          <p:nvPr/>
        </p:nvSpPr>
        <p:spPr>
          <a:xfrm>
            <a:off x="4315968" y="246888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VS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0" y="4791456"/>
            <a:ext cx="9144000" cy="352044"/>
          </a:xfrm>
          <a:prstGeom prst="rect">
            <a:avLst/>
          </a:prstGeom>
          <a:solidFill>
            <a:srgbClr val="030A18"/>
          </a:solidFill>
          <a:ln/>
        </p:spPr>
      </p:sp>
      <p:sp>
        <p:nvSpPr>
          <p:cNvPr id="44" name="Text 42"/>
          <p:cNvSpPr/>
          <p:nvPr/>
        </p:nvSpPr>
        <p:spPr>
          <a:xfrm>
            <a:off x="457200" y="4809744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D5480"/>
                </a:solidFill>
              </a:rPr>
              <a:t>CertFinder UI/UX 개선 분석</a:t>
            </a:r>
            <a:endParaRPr lang="en-US" sz="750" dirty="0"/>
          </a:p>
        </p:txBody>
      </p:sp>
      <p:sp>
        <p:nvSpPr>
          <p:cNvPr id="45" name="Text 43"/>
          <p:cNvSpPr/>
          <p:nvPr/>
        </p:nvSpPr>
        <p:spPr>
          <a:xfrm>
            <a:off x="8412480" y="4809744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3D5480"/>
                </a:solidFill>
              </a:rPr>
              <a:t>3 / 5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50F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030A1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5720"/>
            <a:ext cx="7315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Before / After  ②  개인화 &amp; 오류 방지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47548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50" kern="0" dirty="0">
                <a:solidFill>
                  <a:srgbClr val="8B9BB4"/>
                </a:solidFill>
              </a:rPr>
              <a:t>사용자 제어 · 개인화 · Fool-Proof 설계 (Nielsen #3, #5) · Hancock 니즈 체계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274320" y="914400"/>
            <a:ext cx="3977640" cy="3886200"/>
          </a:xfrm>
          <a:prstGeom prst="rect">
            <a:avLst/>
          </a:prstGeom>
          <a:solidFill>
            <a:srgbClr val="0D1B35"/>
          </a:solidFill>
          <a:ln w="19050">
            <a:solidFill>
              <a:srgbClr val="FF5C5C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914400"/>
            <a:ext cx="3977640" cy="365760"/>
          </a:xfrm>
          <a:prstGeom prst="rect">
            <a:avLst/>
          </a:prstGeom>
          <a:solidFill>
            <a:srgbClr val="7A1A1A"/>
          </a:solidFill>
          <a:ln/>
        </p:spPr>
      </p:sp>
      <p:sp>
        <p:nvSpPr>
          <p:cNvPr id="7" name="Text 5"/>
          <p:cNvSpPr/>
          <p:nvPr/>
        </p:nvSpPr>
        <p:spPr>
          <a:xfrm>
            <a:off x="365760" y="914400"/>
            <a:ext cx="3794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8080"/>
                </a:solidFill>
              </a:rPr>
              <a:t>✗  BEFORE  (기존)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11480" y="1389888"/>
            <a:ext cx="3703320" cy="1554480"/>
          </a:xfrm>
          <a:prstGeom prst="rect">
            <a:avLst/>
          </a:prstGeom>
          <a:solidFill>
            <a:srgbClr val="1A2E50"/>
          </a:solidFill>
          <a:ln w="19050">
            <a:solidFill>
              <a:srgbClr val="2A4070"/>
            </a:solidFill>
            <a:prstDash val="dash"/>
          </a:ln>
        </p:spPr>
      </p:sp>
      <p:sp>
        <p:nvSpPr>
          <p:cNvPr id="9" name="Text 7"/>
          <p:cNvSpPr/>
          <p:nvPr/>
        </p:nvSpPr>
        <p:spPr>
          <a:xfrm>
            <a:off x="411480" y="1938528"/>
            <a:ext cx="3703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F7CF8"/>
                </a:solidFill>
              </a:rPr>
              <a:t>[이미지]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11480" y="2212848"/>
            <a:ext cx="3703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82A8"/>
                </a:solidFill>
              </a:rPr>
              <a:t>기존 자격증 목록/추천 화면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384048" y="3127248"/>
            <a:ext cx="201168" cy="201168"/>
          </a:xfrm>
          <a:prstGeom prst="oval">
            <a:avLst/>
          </a:prstGeom>
          <a:solidFill>
            <a:srgbClr val="7A1A1A"/>
          </a:solidFill>
          <a:ln/>
        </p:spPr>
      </p:sp>
      <p:sp>
        <p:nvSpPr>
          <p:cNvPr id="12" name="Text 10"/>
          <p:cNvSpPr/>
          <p:nvPr/>
        </p:nvSpPr>
        <p:spPr>
          <a:xfrm>
            <a:off x="384048" y="3127248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5C5C"/>
                </a:solidFill>
              </a:rPr>
              <a:t>✗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658368" y="3090672"/>
            <a:ext cx="3429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0CBDE"/>
                </a:solidFill>
              </a:rPr>
              <a:t>취업 상태 무관 — 동일 추천 결과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84048" y="3529584"/>
            <a:ext cx="201168" cy="201168"/>
          </a:xfrm>
          <a:prstGeom prst="oval">
            <a:avLst/>
          </a:prstGeom>
          <a:solidFill>
            <a:srgbClr val="7A1A1A"/>
          </a:solidFill>
          <a:ln/>
        </p:spPr>
      </p:sp>
      <p:sp>
        <p:nvSpPr>
          <p:cNvPr id="15" name="Text 13"/>
          <p:cNvSpPr/>
          <p:nvPr/>
        </p:nvSpPr>
        <p:spPr>
          <a:xfrm>
            <a:off x="384048" y="3529584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5C5C"/>
                </a:solidFill>
              </a:rPr>
              <a:t>✗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658368" y="3493008"/>
            <a:ext cx="3429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0CBDE"/>
                </a:solidFill>
              </a:rPr>
              <a:t>잘못된 직무 선택 시 복구 경로 불명확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384048" y="3931920"/>
            <a:ext cx="201168" cy="201168"/>
          </a:xfrm>
          <a:prstGeom prst="oval">
            <a:avLst/>
          </a:prstGeom>
          <a:solidFill>
            <a:srgbClr val="7A1A1A"/>
          </a:solidFill>
          <a:ln/>
        </p:spPr>
      </p:sp>
      <p:sp>
        <p:nvSpPr>
          <p:cNvPr id="18" name="Text 16"/>
          <p:cNvSpPr/>
          <p:nvPr/>
        </p:nvSpPr>
        <p:spPr>
          <a:xfrm>
            <a:off x="384048" y="3931920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5C5C"/>
                </a:solidFill>
              </a:rPr>
              <a:t>✗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658368" y="3895344"/>
            <a:ext cx="3429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0CBDE"/>
                </a:solidFill>
              </a:rPr>
              <a:t>자격증 간 난이도 맥락 비교 불가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384048" y="4334256"/>
            <a:ext cx="201168" cy="201168"/>
          </a:xfrm>
          <a:prstGeom prst="oval">
            <a:avLst/>
          </a:prstGeom>
          <a:solidFill>
            <a:srgbClr val="7A1A1A"/>
          </a:solidFill>
          <a:ln/>
        </p:spPr>
      </p:sp>
      <p:sp>
        <p:nvSpPr>
          <p:cNvPr id="21" name="Text 19"/>
          <p:cNvSpPr/>
          <p:nvPr/>
        </p:nvSpPr>
        <p:spPr>
          <a:xfrm>
            <a:off x="384048" y="4334256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5C5C"/>
                </a:solidFill>
              </a:rPr>
              <a:t>✗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658368" y="4297680"/>
            <a:ext cx="3429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0CBDE"/>
                </a:solidFill>
              </a:rPr>
              <a:t>최근 본 자격증 이력 없음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892040" y="914400"/>
            <a:ext cx="3977640" cy="3886200"/>
          </a:xfrm>
          <a:prstGeom prst="rect">
            <a:avLst/>
          </a:prstGeom>
          <a:solidFill>
            <a:srgbClr val="0D1B35"/>
          </a:solidFill>
          <a:ln w="19050">
            <a:solidFill>
              <a:srgbClr val="34D399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5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892040" y="914400"/>
            <a:ext cx="3977640" cy="365760"/>
          </a:xfrm>
          <a:prstGeom prst="rect">
            <a:avLst/>
          </a:prstGeom>
          <a:solidFill>
            <a:srgbClr val="0A3A28"/>
          </a:solidFill>
          <a:ln/>
        </p:spPr>
      </p:sp>
      <p:sp>
        <p:nvSpPr>
          <p:cNvPr id="25" name="Text 23"/>
          <p:cNvSpPr/>
          <p:nvPr/>
        </p:nvSpPr>
        <p:spPr>
          <a:xfrm>
            <a:off x="4983480" y="914400"/>
            <a:ext cx="3794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4D399"/>
                </a:solidFill>
              </a:rPr>
              <a:t>✓  AFTER  (CertFinder)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029200" y="1389888"/>
            <a:ext cx="3703320" cy="1554480"/>
          </a:xfrm>
          <a:prstGeom prst="rect">
            <a:avLst/>
          </a:prstGeom>
          <a:solidFill>
            <a:srgbClr val="1A2E50"/>
          </a:solidFill>
          <a:ln w="19050">
            <a:solidFill>
              <a:srgbClr val="2A4070"/>
            </a:solidFill>
            <a:prstDash val="dash"/>
          </a:ln>
        </p:spPr>
      </p:sp>
      <p:sp>
        <p:nvSpPr>
          <p:cNvPr id="27" name="Text 25"/>
          <p:cNvSpPr/>
          <p:nvPr/>
        </p:nvSpPr>
        <p:spPr>
          <a:xfrm>
            <a:off x="5029200" y="1938528"/>
            <a:ext cx="3703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F7CF8"/>
                </a:solidFill>
              </a:rPr>
              <a:t>[이미지]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5029200" y="2212848"/>
            <a:ext cx="3703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82A8"/>
                </a:solidFill>
              </a:rPr>
              <a:t>AI 추천 페이지 / 마이페이지 스크린샷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4956048" y="3127248"/>
            <a:ext cx="201168" cy="201168"/>
          </a:xfrm>
          <a:prstGeom prst="oval">
            <a:avLst/>
          </a:prstGeom>
          <a:solidFill>
            <a:srgbClr val="0A3A28"/>
          </a:solidFill>
          <a:ln/>
        </p:spPr>
      </p:sp>
      <p:sp>
        <p:nvSpPr>
          <p:cNvPr id="30" name="Text 28"/>
          <p:cNvSpPr/>
          <p:nvPr/>
        </p:nvSpPr>
        <p:spPr>
          <a:xfrm>
            <a:off x="4956048" y="3127248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4D399"/>
                </a:solidFill>
              </a:rPr>
              <a:t>✓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5230368" y="3090672"/>
            <a:ext cx="3429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0CBDE"/>
                </a:solidFill>
              </a:rPr>
              <a:t>위험군(1~5단계) 기반 차등 추천 경로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4956048" y="3529584"/>
            <a:ext cx="201168" cy="201168"/>
          </a:xfrm>
          <a:prstGeom prst="oval">
            <a:avLst/>
          </a:prstGeom>
          <a:solidFill>
            <a:srgbClr val="0A3A28"/>
          </a:solidFill>
          <a:ln/>
        </p:spPr>
      </p:sp>
      <p:sp>
        <p:nvSpPr>
          <p:cNvPr id="33" name="Text 31"/>
          <p:cNvSpPr/>
          <p:nvPr/>
        </p:nvSpPr>
        <p:spPr>
          <a:xfrm>
            <a:off x="4956048" y="3529584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4D399"/>
                </a:solidFill>
              </a:rPr>
              <a:t>✓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5230368" y="3493008"/>
            <a:ext cx="3429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0CBDE"/>
                </a:solidFill>
              </a:rPr>
              <a:t>AI 추천 근거 투명하게 제공 (설명 가능 AI)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4956048" y="3931920"/>
            <a:ext cx="201168" cy="201168"/>
          </a:xfrm>
          <a:prstGeom prst="oval">
            <a:avLst/>
          </a:prstGeom>
          <a:solidFill>
            <a:srgbClr val="0A3A28"/>
          </a:solidFill>
          <a:ln/>
        </p:spPr>
      </p:sp>
      <p:sp>
        <p:nvSpPr>
          <p:cNvPr id="36" name="Text 34"/>
          <p:cNvSpPr/>
          <p:nvPr/>
        </p:nvSpPr>
        <p:spPr>
          <a:xfrm>
            <a:off x="4956048" y="3931920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4D399"/>
                </a:solidFill>
              </a:rPr>
              <a:t>✓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5230368" y="3895344"/>
            <a:ext cx="3429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0CBDE"/>
                </a:solidFill>
              </a:rPr>
              <a:t>단계형 로드맵 — 난이도 시퀀스 시각화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4956048" y="4334256"/>
            <a:ext cx="201168" cy="201168"/>
          </a:xfrm>
          <a:prstGeom prst="oval">
            <a:avLst/>
          </a:prstGeom>
          <a:solidFill>
            <a:srgbClr val="0A3A28"/>
          </a:solidFill>
          <a:ln/>
        </p:spPr>
      </p:sp>
      <p:sp>
        <p:nvSpPr>
          <p:cNvPr id="39" name="Text 37"/>
          <p:cNvSpPr/>
          <p:nvPr/>
        </p:nvSpPr>
        <p:spPr>
          <a:xfrm>
            <a:off x="4956048" y="4334256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4D399"/>
                </a:solidFill>
              </a:rPr>
              <a:t>✓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5230368" y="4297680"/>
            <a:ext cx="3429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0CBDE"/>
                </a:solidFill>
              </a:rPr>
              <a:t>최근 본 자격증 + 관심 자격증 마이페이지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4315968" y="2468880"/>
            <a:ext cx="512064" cy="512064"/>
          </a:xfrm>
          <a:prstGeom prst="oval">
            <a:avLst/>
          </a:prstGeom>
          <a:solidFill>
            <a:srgbClr val="4F7CF8"/>
          </a:solidFill>
          <a:ln/>
          <a:effectLst>
            <a:outerShdw sx="100000" sy="100000" kx="0" ky="0" algn="bl" rotWithShape="0" blurRad="152400" dist="50800" dir="8100000">
              <a:srgbClr val="000000">
                <a:alpha val="25000"/>
              </a:srgbClr>
            </a:outerShdw>
          </a:effectLst>
        </p:spPr>
      </p:sp>
      <p:sp>
        <p:nvSpPr>
          <p:cNvPr id="42" name="Text 40"/>
          <p:cNvSpPr/>
          <p:nvPr/>
        </p:nvSpPr>
        <p:spPr>
          <a:xfrm>
            <a:off x="4315968" y="246888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VS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0" y="4791456"/>
            <a:ext cx="9144000" cy="352044"/>
          </a:xfrm>
          <a:prstGeom prst="rect">
            <a:avLst/>
          </a:prstGeom>
          <a:solidFill>
            <a:srgbClr val="030A18"/>
          </a:solidFill>
          <a:ln/>
        </p:spPr>
      </p:sp>
      <p:sp>
        <p:nvSpPr>
          <p:cNvPr id="44" name="Text 42"/>
          <p:cNvSpPr/>
          <p:nvPr/>
        </p:nvSpPr>
        <p:spPr>
          <a:xfrm>
            <a:off x="457200" y="4809744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D5480"/>
                </a:solidFill>
              </a:rPr>
              <a:t>CertFinder UI/UX 개선 분석</a:t>
            </a:r>
            <a:endParaRPr lang="en-US" sz="750" dirty="0"/>
          </a:p>
        </p:txBody>
      </p:sp>
      <p:sp>
        <p:nvSpPr>
          <p:cNvPr id="45" name="Text 43"/>
          <p:cNvSpPr/>
          <p:nvPr/>
        </p:nvSpPr>
        <p:spPr>
          <a:xfrm>
            <a:off x="8412480" y="4809744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3D5480"/>
                </a:solidFill>
              </a:rPr>
              <a:t>4 / 5</a:t>
            </a:r>
            <a:endParaRPr lang="en-US" sz="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50F24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109728"/>
            <a:ext cx="6400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결론 — 사용성 설계 달성 요약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02920" y="5669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50" kern="0" dirty="0">
                <a:solidFill>
                  <a:srgbClr val="8B9BB4"/>
                </a:solidFill>
              </a:rPr>
              <a:t>인간공학적 설계 기준 대비 CertFinder의 충족 현황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365760" y="1051560"/>
            <a:ext cx="4206240" cy="3749040"/>
          </a:xfrm>
          <a:prstGeom prst="rect">
            <a:avLst/>
          </a:prstGeom>
          <a:solidFill>
            <a:srgbClr val="E8EEFF"/>
          </a:solidFill>
          <a:ln w="12700">
            <a:solidFill>
              <a:srgbClr val="C5D3F0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051560"/>
            <a:ext cx="4206240" cy="365760"/>
          </a:xfrm>
          <a:prstGeom prst="rect">
            <a:avLst/>
          </a:prstGeom>
          <a:solidFill>
            <a:srgbClr val="4F7CF8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05156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Nielsen 10 Heuristics 달성도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75488" y="1591056"/>
            <a:ext cx="201168" cy="201168"/>
          </a:xfrm>
          <a:prstGeom prst="oval">
            <a:avLst/>
          </a:prstGeom>
          <a:solidFill>
            <a:srgbClr val="16A34A"/>
          </a:solidFill>
          <a:ln/>
        </p:spPr>
      </p:sp>
      <p:sp>
        <p:nvSpPr>
          <p:cNvPr id="9" name="Text 7"/>
          <p:cNvSpPr/>
          <p:nvPr/>
        </p:nvSpPr>
        <p:spPr>
          <a:xfrm>
            <a:off x="475488" y="1591056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✓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749808" y="1536192"/>
            <a:ext cx="3611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2540"/>
                </a:solidFill>
              </a:rPr>
              <a:t>#1  시스템 상태 가시성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749808" y="1764792"/>
            <a:ext cx="3611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7AB8"/>
                </a:solidFill>
              </a:rPr>
              <a:t>합격률·안정성 점수 실시간 표시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475488" y="2039112"/>
            <a:ext cx="201168" cy="201168"/>
          </a:xfrm>
          <a:prstGeom prst="oval">
            <a:avLst/>
          </a:prstGeom>
          <a:solidFill>
            <a:srgbClr val="16A34A"/>
          </a:solidFill>
          <a:ln/>
        </p:spPr>
      </p:sp>
      <p:sp>
        <p:nvSpPr>
          <p:cNvPr id="13" name="Text 11"/>
          <p:cNvSpPr/>
          <p:nvPr/>
        </p:nvSpPr>
        <p:spPr>
          <a:xfrm>
            <a:off x="475488" y="2039112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✓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749808" y="1984248"/>
            <a:ext cx="3611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2540"/>
                </a:solidFill>
              </a:rPr>
              <a:t>#3  사용자 제어 &amp; 자유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749808" y="2212848"/>
            <a:ext cx="3611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7AB8"/>
                </a:solidFill>
              </a:rPr>
              <a:t>북마크, 뒤로가기, 직무 재선택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475488" y="2487168"/>
            <a:ext cx="201168" cy="201168"/>
          </a:xfrm>
          <a:prstGeom prst="oval">
            <a:avLst/>
          </a:prstGeom>
          <a:solidFill>
            <a:srgbClr val="16A34A"/>
          </a:solidFill>
          <a:ln/>
        </p:spPr>
      </p:sp>
      <p:sp>
        <p:nvSpPr>
          <p:cNvPr id="17" name="Text 15"/>
          <p:cNvSpPr/>
          <p:nvPr/>
        </p:nvSpPr>
        <p:spPr>
          <a:xfrm>
            <a:off x="475488" y="2487168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✓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749808" y="2432304"/>
            <a:ext cx="3611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2540"/>
                </a:solidFill>
              </a:rPr>
              <a:t>#4  일관성 &amp; 표준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749808" y="2660904"/>
            <a:ext cx="3611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7AB8"/>
                </a:solidFill>
              </a:rPr>
              <a:t>통일된 카드 컴포넌트 &amp; 태그 체계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475488" y="2935224"/>
            <a:ext cx="201168" cy="201168"/>
          </a:xfrm>
          <a:prstGeom prst="oval">
            <a:avLst/>
          </a:prstGeom>
          <a:solidFill>
            <a:srgbClr val="16A34A"/>
          </a:solidFill>
          <a:ln/>
        </p:spPr>
      </p:sp>
      <p:sp>
        <p:nvSpPr>
          <p:cNvPr id="21" name="Text 19"/>
          <p:cNvSpPr/>
          <p:nvPr/>
        </p:nvSpPr>
        <p:spPr>
          <a:xfrm>
            <a:off x="475488" y="2935224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✓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749808" y="2880360"/>
            <a:ext cx="3611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2540"/>
                </a:solidFill>
              </a:rPr>
              <a:t>#5  오류 방지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749808" y="3108960"/>
            <a:ext cx="3611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7AB8"/>
                </a:solidFill>
              </a:rPr>
              <a:t>유효 taxonomy 내 선택만 허용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475488" y="3383280"/>
            <a:ext cx="201168" cy="201168"/>
          </a:xfrm>
          <a:prstGeom prst="oval">
            <a:avLst/>
          </a:prstGeom>
          <a:solidFill>
            <a:srgbClr val="16A34A"/>
          </a:solidFill>
          <a:ln/>
        </p:spPr>
      </p:sp>
      <p:sp>
        <p:nvSpPr>
          <p:cNvPr id="25" name="Text 23"/>
          <p:cNvSpPr/>
          <p:nvPr/>
        </p:nvSpPr>
        <p:spPr>
          <a:xfrm>
            <a:off x="475488" y="3383280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✓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749808" y="3328416"/>
            <a:ext cx="3611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2540"/>
                </a:solidFill>
              </a:rPr>
              <a:t>#6  인식 &gt; 기억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749808" y="3557016"/>
            <a:ext cx="3611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7AB8"/>
                </a:solidFill>
              </a:rPr>
              <a:t>아이콘·태그 스캔으로 기억 부담 ↓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475488" y="3831336"/>
            <a:ext cx="201168" cy="201168"/>
          </a:xfrm>
          <a:prstGeom prst="oval">
            <a:avLst/>
          </a:prstGeom>
          <a:solidFill>
            <a:srgbClr val="16A34A"/>
          </a:solidFill>
          <a:ln/>
        </p:spPr>
      </p:sp>
      <p:sp>
        <p:nvSpPr>
          <p:cNvPr id="29" name="Text 27"/>
          <p:cNvSpPr/>
          <p:nvPr/>
        </p:nvSpPr>
        <p:spPr>
          <a:xfrm>
            <a:off x="475488" y="3831336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✓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749808" y="3776472"/>
            <a:ext cx="3611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2540"/>
                </a:solidFill>
              </a:rPr>
              <a:t>#8  미학적 최소주의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749808" y="4005072"/>
            <a:ext cx="3611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7AB8"/>
                </a:solidFill>
              </a:rPr>
              <a:t>다크 테마 + 핵심 정보만 노출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475488" y="4279392"/>
            <a:ext cx="201168" cy="201168"/>
          </a:xfrm>
          <a:prstGeom prst="oval">
            <a:avLst/>
          </a:prstGeom>
          <a:solidFill>
            <a:srgbClr val="DC2626"/>
          </a:solidFill>
          <a:ln/>
        </p:spPr>
      </p:sp>
      <p:sp>
        <p:nvSpPr>
          <p:cNvPr id="33" name="Text 31"/>
          <p:cNvSpPr/>
          <p:nvPr/>
        </p:nvSpPr>
        <p:spPr>
          <a:xfrm>
            <a:off x="475488" y="4279392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△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749808" y="4224528"/>
            <a:ext cx="3611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2540"/>
                </a:solidFill>
              </a:rPr>
              <a:t>#9  오류 인식·진단·복구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749808" y="4453128"/>
            <a:ext cx="3611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7AB8"/>
                </a:solidFill>
              </a:rPr>
              <a:t>오류 메시지 가이드 미비 (개선 여지)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4846320" y="1051560"/>
            <a:ext cx="3931920" cy="1645920"/>
          </a:xfrm>
          <a:prstGeom prst="rect">
            <a:avLst/>
          </a:prstGeom>
          <a:solidFill>
            <a:srgbClr val="F0F4FF"/>
          </a:solidFill>
          <a:ln w="12700">
            <a:solidFill>
              <a:srgbClr val="C5D3F0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5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4846320" y="1051560"/>
            <a:ext cx="3931920" cy="365760"/>
          </a:xfrm>
          <a:prstGeom prst="rect">
            <a:avLst/>
          </a:prstGeom>
          <a:solidFill>
            <a:srgbClr val="1A2540"/>
          </a:solidFill>
          <a:ln/>
        </p:spPr>
      </p:sp>
      <p:sp>
        <p:nvSpPr>
          <p:cNvPr id="38" name="Text 36"/>
          <p:cNvSpPr/>
          <p:nvPr/>
        </p:nvSpPr>
        <p:spPr>
          <a:xfrm>
            <a:off x="4937760" y="105156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ISO 9241 사용성 달성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4937760" y="1536192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2540"/>
                </a:solidFill>
              </a:rPr>
              <a:t>효과성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5806440" y="1591056"/>
            <a:ext cx="2468880" cy="164592"/>
          </a:xfrm>
          <a:prstGeom prst="rect">
            <a:avLst/>
          </a:prstGeom>
          <a:solidFill>
            <a:srgbClr val="D6E0F5"/>
          </a:solidFill>
          <a:ln w="12700">
            <a:solidFill>
              <a:srgbClr val="C5D3F0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5806440" y="1591056"/>
            <a:ext cx="2221992" cy="164592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42" name="Text 40"/>
          <p:cNvSpPr/>
          <p:nvPr/>
        </p:nvSpPr>
        <p:spPr>
          <a:xfrm>
            <a:off x="8321040" y="1536192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891B2"/>
                </a:solidFill>
              </a:rPr>
              <a:t>90%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4937760" y="1920240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2540"/>
                </a:solidFill>
              </a:rPr>
              <a:t>효율성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5806440" y="1975104"/>
            <a:ext cx="2468880" cy="164592"/>
          </a:xfrm>
          <a:prstGeom prst="rect">
            <a:avLst/>
          </a:prstGeom>
          <a:solidFill>
            <a:srgbClr val="D6E0F5"/>
          </a:solidFill>
          <a:ln w="12700">
            <a:solidFill>
              <a:srgbClr val="C5D3F0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5806440" y="1975104"/>
            <a:ext cx="2024482" cy="164592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46" name="Text 44"/>
          <p:cNvSpPr/>
          <p:nvPr/>
        </p:nvSpPr>
        <p:spPr>
          <a:xfrm>
            <a:off x="8321040" y="1920240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7C3AED"/>
                </a:solidFill>
              </a:rPr>
              <a:t>82%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4937760" y="2304288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2540"/>
                </a:solidFill>
              </a:rPr>
              <a:t>만족도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5806440" y="2359152"/>
            <a:ext cx="2468880" cy="164592"/>
          </a:xfrm>
          <a:prstGeom prst="rect">
            <a:avLst/>
          </a:prstGeom>
          <a:solidFill>
            <a:srgbClr val="D6E0F5"/>
          </a:solidFill>
          <a:ln w="12700">
            <a:solidFill>
              <a:srgbClr val="C5D3F0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5806440" y="2359152"/>
            <a:ext cx="2172614" cy="164592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50" name="Text 48"/>
          <p:cNvSpPr/>
          <p:nvPr/>
        </p:nvSpPr>
        <p:spPr>
          <a:xfrm>
            <a:off x="8321040" y="2304288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D97706"/>
                </a:solidFill>
              </a:rPr>
              <a:t>88%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4846320" y="2834640"/>
            <a:ext cx="3931920" cy="914400"/>
          </a:xfrm>
          <a:prstGeom prst="rect">
            <a:avLst/>
          </a:prstGeom>
          <a:solidFill>
            <a:srgbClr val="FFF7ED"/>
          </a:solidFill>
          <a:ln w="12700">
            <a:solidFill>
              <a:srgbClr val="FDD49A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5000"/>
              </a:srgbClr>
            </a:outerShdw>
          </a:effectLst>
        </p:spPr>
      </p:sp>
      <p:sp>
        <p:nvSpPr>
          <p:cNvPr id="52" name="Shape 50"/>
          <p:cNvSpPr/>
          <p:nvPr/>
        </p:nvSpPr>
        <p:spPr>
          <a:xfrm>
            <a:off x="4846320" y="2834640"/>
            <a:ext cx="3931920" cy="310896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53" name="Text 51"/>
          <p:cNvSpPr/>
          <p:nvPr/>
        </p:nvSpPr>
        <p:spPr>
          <a:xfrm>
            <a:off x="4937760" y="2834640"/>
            <a:ext cx="3749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50F24"/>
                </a:solidFill>
              </a:rPr>
              <a:t>감성공학 (Kansei Engineering) 적용</a:t>
            </a:r>
            <a:endParaRPr lang="en-US" sz="950" dirty="0"/>
          </a:p>
        </p:txBody>
      </p:sp>
      <p:sp>
        <p:nvSpPr>
          <p:cNvPr id="54" name="Text 52"/>
          <p:cNvSpPr/>
          <p:nvPr/>
        </p:nvSpPr>
        <p:spPr>
          <a:xfrm>
            <a:off x="4937760" y="3200400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A3A00"/>
                </a:solidFill>
              </a:rPr>
              <a:t>다크 네이비 테마 → '신뢰·전문성' 감성 유도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5A3A00"/>
                </a:solidFill>
              </a:rPr>
              <a:t>골드 CTA 버튼 → 행동 유도(직무 찾기) 강조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5A3A00"/>
                </a:solidFill>
              </a:rPr>
              <a:t>블루 그래디언트 → 데이터 기반 시스템 신뢰 이미지</a:t>
            </a:r>
            <a:endParaRPr lang="en-US" sz="850" dirty="0"/>
          </a:p>
        </p:txBody>
      </p:sp>
      <p:sp>
        <p:nvSpPr>
          <p:cNvPr id="55" name="Shape 53"/>
          <p:cNvSpPr/>
          <p:nvPr/>
        </p:nvSpPr>
        <p:spPr>
          <a:xfrm>
            <a:off x="4846320" y="3858768"/>
            <a:ext cx="3931920" cy="804672"/>
          </a:xfrm>
          <a:prstGeom prst="rect">
            <a:avLst/>
          </a:prstGeom>
          <a:solidFill>
            <a:srgbClr val="EEF2FF"/>
          </a:solidFill>
          <a:ln w="19050">
            <a:solidFill>
              <a:srgbClr val="4F7CF8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5000"/>
              </a:srgbClr>
            </a:outerShdw>
          </a:effectLst>
        </p:spPr>
      </p:sp>
      <p:sp>
        <p:nvSpPr>
          <p:cNvPr id="56" name="Text 54"/>
          <p:cNvSpPr/>
          <p:nvPr/>
        </p:nvSpPr>
        <p:spPr>
          <a:xfrm>
            <a:off x="4983480" y="3913632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4F7CF8"/>
                </a:solidFill>
              </a:rPr>
              <a:t>설계 총평</a:t>
            </a:r>
            <a:endParaRPr lang="en-US" sz="900" dirty="0"/>
          </a:p>
        </p:txBody>
      </p:sp>
      <p:sp>
        <p:nvSpPr>
          <p:cNvPr id="57" name="Text 55"/>
          <p:cNvSpPr/>
          <p:nvPr/>
        </p:nvSpPr>
        <p:spPr>
          <a:xfrm>
            <a:off x="4983480" y="4151376"/>
            <a:ext cx="3703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2540"/>
                </a:solidFill>
              </a:rPr>
              <a:t>CertFinder는 Nielsen 10원칙 중 6개를 충족하며, ISO 3대 요소 전반에서 80% 이상 달성. 감성공학 적용으로 신뢰·행동 유도 감성을 구체화했고, 오류 복구(#9) 개선을 통해 완성도를 높일 수 있다.</a:t>
            </a:r>
            <a:endParaRPr lang="en-US" sz="850" dirty="0"/>
          </a:p>
        </p:txBody>
      </p:sp>
      <p:sp>
        <p:nvSpPr>
          <p:cNvPr id="58" name="Shape 56"/>
          <p:cNvSpPr/>
          <p:nvPr/>
        </p:nvSpPr>
        <p:spPr>
          <a:xfrm>
            <a:off x="0" y="4773168"/>
            <a:ext cx="9144000" cy="365760"/>
          </a:xfrm>
          <a:prstGeom prst="rect">
            <a:avLst/>
          </a:prstGeom>
          <a:solidFill>
            <a:srgbClr val="E8EEFF"/>
          </a:solidFill>
          <a:ln/>
        </p:spPr>
      </p:sp>
      <p:sp>
        <p:nvSpPr>
          <p:cNvPr id="59" name="Text 57"/>
          <p:cNvSpPr/>
          <p:nvPr/>
        </p:nvSpPr>
        <p:spPr>
          <a:xfrm>
            <a:off x="457200" y="4809744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090B0"/>
                </a:solidFill>
              </a:rPr>
              <a:t>CertFinder UI/UX 개선 분석</a:t>
            </a:r>
            <a:endParaRPr lang="en-US" sz="800" dirty="0"/>
          </a:p>
        </p:txBody>
      </p:sp>
      <p:sp>
        <p:nvSpPr>
          <p:cNvPr id="60" name="Text 58"/>
          <p:cNvSpPr/>
          <p:nvPr/>
        </p:nvSpPr>
        <p:spPr>
          <a:xfrm>
            <a:off x="8412480" y="4809744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090B0"/>
                </a:solidFill>
              </a:rPr>
              <a:t>5 / 5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2026-06-01T03:00:58Z</dcterms:created>
  <dcterms:modified xsi:type="dcterms:W3CDTF">2026-06-01T03:00:58Z</dcterms:modified>
</cp:coreProperties>
</file>